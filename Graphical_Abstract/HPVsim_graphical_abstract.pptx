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801600" cy="51212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33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Incidence 2040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C94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F5-4B34-B962-034184F450BA}"/>
              </c:ext>
            </c:extLst>
          </c:dPt>
          <c:dPt>
            <c:idx val="1"/>
            <c:invertIfNegative val="0"/>
            <c:bubble3D val="0"/>
            <c:spPr>
              <a:solidFill>
                <a:srgbClr val="773F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6F5-4B34-B962-034184F450BA}"/>
              </c:ext>
            </c:extLst>
          </c:dPt>
          <c:dPt>
            <c:idx val="2"/>
            <c:invertIfNegative val="0"/>
            <c:bubble3D val="0"/>
            <c:spPr>
              <a:solidFill>
                <a:srgbClr val="AF82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6F5-4B34-B962-034184F450B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rgbClr val="2B2233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Default</c:v>
                </c:pt>
                <c:pt idx="1">
                  <c:v>Gamma</c:v>
                </c:pt>
                <c:pt idx="2">
                  <c:v>Power law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</c:v>
                </c:pt>
                <c:pt idx="1">
                  <c:v>13.5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5-4B34-B962-034184F45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27"/>
        <c:axId val="314318928"/>
        <c:axId val="19434049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UK target (4)</c:v>
                </c:pt>
              </c:strCache>
            </c:strRef>
          </c:tx>
          <c:spPr>
            <a:ln w="25400" cap="rnd">
              <a:solidFill>
                <a:srgbClr val="C0392B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Default</c:v>
                </c:pt>
                <c:pt idx="1">
                  <c:v>Gamma</c:v>
                </c:pt>
                <c:pt idx="2">
                  <c:v>Power law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F5-4B34-B962-034184F45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4318928"/>
        <c:axId val="194340496"/>
      </c:lineChart>
      <c:catAx>
        <c:axId val="31431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2D9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2B2233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194340496"/>
        <c:crosses val="autoZero"/>
        <c:auto val="1"/>
        <c:lblAlgn val="ctr"/>
        <c:lblOffset val="100"/>
        <c:noMultiLvlLbl val="0"/>
      </c:catAx>
      <c:valAx>
        <c:axId val="194340496"/>
        <c:scaling>
          <c:orientation val="minMax"/>
          <c:max val="16"/>
          <c:min val="0"/>
        </c:scaling>
        <c:delete val="0"/>
        <c:axPos val="l"/>
        <c:majorGridlines>
          <c:spPr>
            <a:ln w="9525" cap="flat" cmpd="sng" algn="ctr">
              <a:solidFill>
                <a:srgbClr val="E2D9EA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E6378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314318928"/>
        <c:crosses val="autoZero"/>
        <c:crossBetween val="between"/>
        <c:majorUnit val="4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rgbClr val="C0392B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>
          <a:latin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Incidence 2040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C94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B8-471F-B5BB-5089E0C1233B}"/>
              </c:ext>
            </c:extLst>
          </c:dPt>
          <c:dPt>
            <c:idx val="1"/>
            <c:invertIfNegative val="0"/>
            <c:bubble3D val="0"/>
            <c:spPr>
              <a:solidFill>
                <a:srgbClr val="773F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AB8-471F-B5BB-5089E0C1233B}"/>
              </c:ext>
            </c:extLst>
          </c:dPt>
          <c:dPt>
            <c:idx val="2"/>
            <c:invertIfNegative val="0"/>
            <c:bubble3D val="0"/>
            <c:spPr>
              <a:solidFill>
                <a:srgbClr val="AF82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AB8-471F-B5BB-5089E0C1233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rgbClr val="2B2233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Default</c:v>
                </c:pt>
                <c:pt idx="1">
                  <c:v>Gamma</c:v>
                </c:pt>
                <c:pt idx="2">
                  <c:v>Power law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</c:v>
                </c:pt>
                <c:pt idx="1">
                  <c:v>13.5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B8-471F-B5BB-5089E0C12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27"/>
        <c:axId val="317715520"/>
        <c:axId val="194333776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UK target (4)</c:v>
                </c:pt>
              </c:strCache>
            </c:strRef>
          </c:tx>
          <c:spPr>
            <a:ln w="25400" cap="rnd">
              <a:solidFill>
                <a:srgbClr val="C0392B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Default</c:v>
                </c:pt>
                <c:pt idx="1">
                  <c:v>Gamma</c:v>
                </c:pt>
                <c:pt idx="2">
                  <c:v>Power law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B8-471F-B5BB-5089E0C12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7715520"/>
        <c:axId val="194333776"/>
      </c:lineChart>
      <c:catAx>
        <c:axId val="317715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2D9E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2B2233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194333776"/>
        <c:crosses val="autoZero"/>
        <c:auto val="1"/>
        <c:lblAlgn val="ctr"/>
        <c:lblOffset val="100"/>
        <c:noMultiLvlLbl val="0"/>
      </c:catAx>
      <c:valAx>
        <c:axId val="194333776"/>
        <c:scaling>
          <c:orientation val="minMax"/>
          <c:max val="16"/>
          <c:min val="0"/>
        </c:scaling>
        <c:delete val="0"/>
        <c:axPos val="l"/>
        <c:majorGridlines>
          <c:spPr>
            <a:ln w="9525" cap="flat" cmpd="sng" algn="ctr">
              <a:solidFill>
                <a:srgbClr val="E2D9EA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>
                <a:noFill/>
              </a14:hiddenLine>
            </a:ext>
          </a:extLst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6E6378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en-US"/>
          </a:p>
        </c:txPr>
        <c:crossAx val="317715520"/>
        <c:crosses val="autoZero"/>
        <c:crossBetween val="between"/>
        <c:majorUnit val="4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c:spPr>
    </c:plotArea>
    <c:legend>
      <c:legendPos val="t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rgbClr val="C0392B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>
          <a:latin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D3115-25C7-4E68-8FAE-5F2222F8B383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7038" y="1143000"/>
            <a:ext cx="77120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48108-FFCB-4B54-9BD7-0B82FBD32B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78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DRAFT A: three panels, following the structure of Elsevier's own template (context -&gt; method -&gt; outcome), in the M4P poster colours.
Findings: draft values are setting B (mean degree 1.4) medians of 50 runs for cervical cancer incidence per 100,000 women in 2040: Default 6.9, Gamma (shape 2) 13.5 (+96%), Power law (alpha 3.5) 9.0 (+30%). Note the Gamma caveat in results_figures.tex (run 1900-2050, fitted differently). Chart: right-click &gt; Edit Data. Update the stats card and any "2x" wording to match the final values.
Elsevier graphical abstract checklist (elsevier.com/en-gb/researcher/author/tools-and-resources/graphical-abstract):
- Minimum 1328 x 531 px (w x h), or proportionally more, keeping the 500 x 200 (2.5:1) ratio. This slide is 14 x 5.6 in, so even a default 96-dpi export is 1344 x 538 px.
- Preferred files: TIFF, EPS, PDF or MS Office. Safest: File &gt; Export &gt; Create PDF (vector), exporting only the chosen slide.
- Fonts: Times, Arial, Courier or Symbol, large enough to read when shrunk to 200 px high.
- Clear start and end, reading left to right or top to bottom. No "Graphical abstract" heading, no unnecessary white space, no extra text outside the image.
- Icons: Health Icons (healthicons.org), CC0, no credit required. Oxford logo: cropped from the Mathematical Institute logo on the M4P poster (212 px; swap in an official higher-resolution file if you have one). Network schematics: make_network_schematics.py (illustrations, not model output).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48108-FFCB-4B54-9BD7-0B82FBD32B5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159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DRAFT B: methods | network comparison | findings, with a title band and conclusion band (closest to the Kidney Medicine example on the Elsevier page), in the M4P poster colours.
Findings: draft values are setting B (mean degree 1.4) medians of 50 runs for cervical cancer incidence per 100,000 women in 2040: Default 6.9, Gamma (shape 2) 13.5 (+96%), Power law (alpha 3.5) 9.0 (+30%). Note the Gamma caveat in results_figures.tex (run 1900-2050, fitted differently). Chart: right-click &gt; Edit Data. Update the stats card and any "2x" wording to match the final values.
Elsevier graphical abstract checklist (elsevier.com/en-gb/researcher/author/tools-and-resources/graphical-abstract):
- Minimum 1328 x 531 px (w x h), or proportionally more, keeping the 500 x 200 (2.5:1) ratio. This slide is 14 x 5.6 in, so even a default 96-dpi export is 1344 x 538 px.
- Preferred files: TIFF, EPS, PDF or MS Office. Safest: File &gt; Export &gt; Create PDF (vector), exporting only the chosen slide.
- Fonts: Times, Arial, Courier or Symbol, large enough to read when shrunk to 200 px high.
- Clear start and end, reading left to right or top to bottom. No "Graphical abstract" heading, no unnecessary white space, no extra text outside the image.
- Icons: Health Icons (healthicons.org), CC0, no credit required. Oxford logo: cropped from the Mathematical Institute logo on the M4P poster (212 px; swap in an official higher-resolution file if you have one). Network schematics: make_network_schematics.py (illustrations, not model output).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48108-FFCB-4B54-9BD7-0B82FBD32B5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00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BLANK: the Draft A frame with placeholders, including the two findings slots. Duplicate this slide to try other versions; delete unused slides before exporting.
Elsevier graphical abstract checklist (elsevier.com/en-gb/researcher/author/tools-and-resources/graphical-abstract):
- Minimum 1328 x 531 px (w x h), or proportionally more, keeping the 500 x 200 (2.5:1) ratio. This slide is 14 x 5.6 in, so even a default 96-dpi export is 1344 x 538 px.
- Preferred files: TIFF, EPS, PDF or MS Office. Safest: File &gt; Export &gt; Create PDF (vector), exporting only the chosen slide.
- Fonts: Times, Arial, Courier or Symbol, large enough to read when shrunk to 200 px high.
- Clear start and end, reading left to right or top to bottom. No "Graphical abstract" heading, no unnecessary white space, no extra text outside the image.
- Icons: Health Icons (healthicons.org), CC0, no credit required. Oxford logo: cropped from the Mathematical Institute logo on the M4P poster (212 px; swap in an official higher-resolution file if you have one). Network schematics: make_network_schematics.py (illustrations, not model output).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48108-FFCB-4B54-9BD7-0B82FBD32B5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91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6962-DDCA-3C43-8078-2582B2B55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838135"/>
            <a:ext cx="9601200" cy="1782962"/>
          </a:xfrm>
        </p:spPr>
        <p:txBody>
          <a:bodyPr anchor="b"/>
          <a:lstStyle>
            <a:lvl1pPr algn="ctr">
              <a:defRPr sz="448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7832B-5B69-1AEA-04F8-49EA7EB54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2689855"/>
            <a:ext cx="9601200" cy="1236456"/>
          </a:xfrm>
        </p:spPr>
        <p:txBody>
          <a:bodyPr/>
          <a:lstStyle>
            <a:lvl1pPr marL="0" indent="0" algn="ctr">
              <a:buNone/>
              <a:defRPr sz="1792"/>
            </a:lvl1pPr>
            <a:lvl2pPr marL="341437" indent="0" algn="ctr">
              <a:buNone/>
              <a:defRPr sz="1494"/>
            </a:lvl2pPr>
            <a:lvl3pPr marL="682874" indent="0" algn="ctr">
              <a:buNone/>
              <a:defRPr sz="1344"/>
            </a:lvl3pPr>
            <a:lvl4pPr marL="1024311" indent="0" algn="ctr">
              <a:buNone/>
              <a:defRPr sz="1195"/>
            </a:lvl4pPr>
            <a:lvl5pPr marL="1365748" indent="0" algn="ctr">
              <a:buNone/>
              <a:defRPr sz="1195"/>
            </a:lvl5pPr>
            <a:lvl6pPr marL="1707185" indent="0" algn="ctr">
              <a:buNone/>
              <a:defRPr sz="1195"/>
            </a:lvl6pPr>
            <a:lvl7pPr marL="2048622" indent="0" algn="ctr">
              <a:buNone/>
              <a:defRPr sz="1195"/>
            </a:lvl7pPr>
            <a:lvl8pPr marL="2390059" indent="0" algn="ctr">
              <a:buNone/>
              <a:defRPr sz="1195"/>
            </a:lvl8pPr>
            <a:lvl9pPr marL="2731496" indent="0" algn="ctr">
              <a:buNone/>
              <a:defRPr sz="1195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4EE77-213A-6091-4522-3F3B19E5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3186C-E7AA-0801-C1B7-28933CF41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000A-3276-C8EC-F08D-456A4478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40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1B0C-2B15-42A2-E78E-C178D523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4621C-4DD5-E13E-AED2-80BCB5957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52309-4F41-0F0E-7ACE-22A7D2F6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F18E2-BCB8-357E-11A1-5C0F7021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7CA1E-69EE-5700-0BA7-3B13C065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32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782A-C5CB-5511-4519-9FE9CBBF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43" y="1276764"/>
            <a:ext cx="11041380" cy="2130308"/>
          </a:xfrm>
        </p:spPr>
        <p:txBody>
          <a:bodyPr anchor="b"/>
          <a:lstStyle>
            <a:lvl1pPr>
              <a:defRPr sz="448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26E9B-F87C-E10D-25C7-CEE7B92A0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3443" y="3427225"/>
            <a:ext cx="11041380" cy="1120279"/>
          </a:xfrm>
        </p:spPr>
        <p:txBody>
          <a:bodyPr/>
          <a:lstStyle>
            <a:lvl1pPr marL="0" indent="0">
              <a:buNone/>
              <a:defRPr sz="1792">
                <a:solidFill>
                  <a:schemeClr val="tx1">
                    <a:tint val="82000"/>
                  </a:schemeClr>
                </a:solidFill>
              </a:defRPr>
            </a:lvl1pPr>
            <a:lvl2pPr marL="341437" indent="0">
              <a:buNone/>
              <a:defRPr sz="1494">
                <a:solidFill>
                  <a:schemeClr val="tx1">
                    <a:tint val="82000"/>
                  </a:schemeClr>
                </a:solidFill>
              </a:defRPr>
            </a:lvl2pPr>
            <a:lvl3pPr marL="68287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3pPr>
            <a:lvl4pPr marL="1024311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4pPr>
            <a:lvl5pPr marL="1365748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5pPr>
            <a:lvl6pPr marL="1707185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6pPr>
            <a:lvl7pPr marL="2048622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7pPr>
            <a:lvl8pPr marL="2390059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8pPr>
            <a:lvl9pPr marL="2731496" indent="0">
              <a:buNone/>
              <a:defRPr sz="119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D366D-78DB-9850-C042-FAC64A5D7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6A080-4C98-3EA4-5EE5-F16EC7A3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DAC75-6FD1-CF85-5EAA-76AA1CA5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15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0816-79A9-2329-14EE-866D2DE7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82D0-7DAB-6D95-B825-49AC3952D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0110" y="1363302"/>
            <a:ext cx="5440680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25B46-3DB2-8D48-6A1F-AE4767B55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810" y="1363302"/>
            <a:ext cx="5440680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F4178-5B17-6F2A-36B0-D4C35A5D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B8F1A-5CE2-5458-2B78-62BE589E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CB6CC-DDA6-81D6-95DB-5DB7AA1D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E512-5B35-035E-9D28-7AF17AAC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7" y="272662"/>
            <a:ext cx="11041380" cy="9898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46AC0-BF00-6F73-A511-1BBE90DF3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778" y="1255424"/>
            <a:ext cx="5415676" cy="615264"/>
          </a:xfrm>
        </p:spPr>
        <p:txBody>
          <a:bodyPr anchor="b"/>
          <a:lstStyle>
            <a:lvl1pPr marL="0" indent="0">
              <a:buNone/>
              <a:defRPr sz="1792" b="1"/>
            </a:lvl1pPr>
            <a:lvl2pPr marL="341437" indent="0">
              <a:buNone/>
              <a:defRPr sz="1494" b="1"/>
            </a:lvl2pPr>
            <a:lvl3pPr marL="682874" indent="0">
              <a:buNone/>
              <a:defRPr sz="1344" b="1"/>
            </a:lvl3pPr>
            <a:lvl4pPr marL="1024311" indent="0">
              <a:buNone/>
              <a:defRPr sz="1195" b="1"/>
            </a:lvl4pPr>
            <a:lvl5pPr marL="1365748" indent="0">
              <a:buNone/>
              <a:defRPr sz="1195" b="1"/>
            </a:lvl5pPr>
            <a:lvl6pPr marL="1707185" indent="0">
              <a:buNone/>
              <a:defRPr sz="1195" b="1"/>
            </a:lvl6pPr>
            <a:lvl7pPr marL="2048622" indent="0">
              <a:buNone/>
              <a:defRPr sz="1195" b="1"/>
            </a:lvl7pPr>
            <a:lvl8pPr marL="2390059" indent="0">
              <a:buNone/>
              <a:defRPr sz="1195" b="1"/>
            </a:lvl8pPr>
            <a:lvl9pPr marL="2731496" indent="0">
              <a:buNone/>
              <a:defRPr sz="11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35F01-913D-5AF8-686D-21E8F3FA1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778" y="1870688"/>
            <a:ext cx="5415676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4F6C5-7AE3-380E-BE78-E4FB0BD73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0811" y="1255424"/>
            <a:ext cx="5442347" cy="615264"/>
          </a:xfrm>
        </p:spPr>
        <p:txBody>
          <a:bodyPr anchor="b"/>
          <a:lstStyle>
            <a:lvl1pPr marL="0" indent="0">
              <a:buNone/>
              <a:defRPr sz="1792" b="1"/>
            </a:lvl1pPr>
            <a:lvl2pPr marL="341437" indent="0">
              <a:buNone/>
              <a:defRPr sz="1494" b="1"/>
            </a:lvl2pPr>
            <a:lvl3pPr marL="682874" indent="0">
              <a:buNone/>
              <a:defRPr sz="1344" b="1"/>
            </a:lvl3pPr>
            <a:lvl4pPr marL="1024311" indent="0">
              <a:buNone/>
              <a:defRPr sz="1195" b="1"/>
            </a:lvl4pPr>
            <a:lvl5pPr marL="1365748" indent="0">
              <a:buNone/>
              <a:defRPr sz="1195" b="1"/>
            </a:lvl5pPr>
            <a:lvl6pPr marL="1707185" indent="0">
              <a:buNone/>
              <a:defRPr sz="1195" b="1"/>
            </a:lvl6pPr>
            <a:lvl7pPr marL="2048622" indent="0">
              <a:buNone/>
              <a:defRPr sz="1195" b="1"/>
            </a:lvl7pPr>
            <a:lvl8pPr marL="2390059" indent="0">
              <a:buNone/>
              <a:defRPr sz="1195" b="1"/>
            </a:lvl8pPr>
            <a:lvl9pPr marL="2731496" indent="0">
              <a:buNone/>
              <a:defRPr sz="11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E6E2E-7F82-D8BD-BD2F-AE07593C0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0811" y="1870688"/>
            <a:ext cx="5442347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7D6C8-D9DA-1488-0692-64624BC8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36529-C8C0-2E68-839F-B9C45B10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9A646-B389-1143-450D-E8C26474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04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412B-92CD-588A-5B99-2C1D724E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C2B71D-1062-9652-4DFB-E0214FBE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A5F2F-E5F5-970D-C777-10E08E8E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16D38-3627-0394-34BA-E4366FD9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454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42733-24AD-E267-F596-7A4DAC5CB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2399F-F427-08C3-83FF-7926516F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07D96-C9AF-4A4E-0C03-70C03CCA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42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107D-2E93-EC3E-03CD-761815F1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9" y="341418"/>
            <a:ext cx="4128849" cy="1194964"/>
          </a:xfrm>
        </p:spPr>
        <p:txBody>
          <a:bodyPr anchor="b"/>
          <a:lstStyle>
            <a:lvl1pPr>
              <a:defRPr sz="239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5AEA0-8D1B-18F0-BE0B-81813FC64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347" y="737370"/>
            <a:ext cx="6480810" cy="3639425"/>
          </a:xfrm>
        </p:spPr>
        <p:txBody>
          <a:bodyPr/>
          <a:lstStyle>
            <a:lvl1pPr>
              <a:defRPr sz="2390"/>
            </a:lvl1pPr>
            <a:lvl2pPr>
              <a:defRPr sz="2091"/>
            </a:lvl2pPr>
            <a:lvl3pPr>
              <a:defRPr sz="1792"/>
            </a:lvl3pPr>
            <a:lvl4pPr>
              <a:defRPr sz="1494"/>
            </a:lvl4pPr>
            <a:lvl5pPr>
              <a:defRPr sz="1494"/>
            </a:lvl5pPr>
            <a:lvl6pPr>
              <a:defRPr sz="1494"/>
            </a:lvl6pPr>
            <a:lvl7pPr>
              <a:defRPr sz="1494"/>
            </a:lvl7pPr>
            <a:lvl8pPr>
              <a:defRPr sz="1494"/>
            </a:lvl8pPr>
            <a:lvl9pPr>
              <a:defRPr sz="14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06A8E-DA22-56ED-EF9E-3890372D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9" y="1536382"/>
            <a:ext cx="4128849" cy="2846339"/>
          </a:xfrm>
        </p:spPr>
        <p:txBody>
          <a:bodyPr/>
          <a:lstStyle>
            <a:lvl1pPr marL="0" indent="0">
              <a:buNone/>
              <a:defRPr sz="1195"/>
            </a:lvl1pPr>
            <a:lvl2pPr marL="341437" indent="0">
              <a:buNone/>
              <a:defRPr sz="1046"/>
            </a:lvl2pPr>
            <a:lvl3pPr marL="682874" indent="0">
              <a:buNone/>
              <a:defRPr sz="896"/>
            </a:lvl3pPr>
            <a:lvl4pPr marL="1024311" indent="0">
              <a:buNone/>
              <a:defRPr sz="747"/>
            </a:lvl4pPr>
            <a:lvl5pPr marL="1365748" indent="0">
              <a:buNone/>
              <a:defRPr sz="747"/>
            </a:lvl5pPr>
            <a:lvl6pPr marL="1707185" indent="0">
              <a:buNone/>
              <a:defRPr sz="747"/>
            </a:lvl6pPr>
            <a:lvl7pPr marL="2048622" indent="0">
              <a:buNone/>
              <a:defRPr sz="747"/>
            </a:lvl7pPr>
            <a:lvl8pPr marL="2390059" indent="0">
              <a:buNone/>
              <a:defRPr sz="747"/>
            </a:lvl8pPr>
            <a:lvl9pPr marL="2731496" indent="0">
              <a:buNone/>
              <a:defRPr sz="7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3129F-1779-93C5-AC1C-B565E7B6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B5377-04DA-A3BA-153F-52C5C449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975D5-E3FB-01D5-C32B-23CE721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08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529A-5B37-46F9-B3D1-22A2AB5D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79" y="341418"/>
            <a:ext cx="4128849" cy="1194964"/>
          </a:xfrm>
        </p:spPr>
        <p:txBody>
          <a:bodyPr anchor="b"/>
          <a:lstStyle>
            <a:lvl1pPr>
              <a:defRPr sz="239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0057B-B9C1-3CB5-2428-E1ED39A7AA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442347" y="737370"/>
            <a:ext cx="6480810" cy="3639425"/>
          </a:xfrm>
        </p:spPr>
        <p:txBody>
          <a:bodyPr/>
          <a:lstStyle>
            <a:lvl1pPr marL="0" indent="0">
              <a:buNone/>
              <a:defRPr sz="2390"/>
            </a:lvl1pPr>
            <a:lvl2pPr marL="341437" indent="0">
              <a:buNone/>
              <a:defRPr sz="2091"/>
            </a:lvl2pPr>
            <a:lvl3pPr marL="682874" indent="0">
              <a:buNone/>
              <a:defRPr sz="1792"/>
            </a:lvl3pPr>
            <a:lvl4pPr marL="1024311" indent="0">
              <a:buNone/>
              <a:defRPr sz="1494"/>
            </a:lvl4pPr>
            <a:lvl5pPr marL="1365748" indent="0">
              <a:buNone/>
              <a:defRPr sz="1494"/>
            </a:lvl5pPr>
            <a:lvl6pPr marL="1707185" indent="0">
              <a:buNone/>
              <a:defRPr sz="1494"/>
            </a:lvl6pPr>
            <a:lvl7pPr marL="2048622" indent="0">
              <a:buNone/>
              <a:defRPr sz="1494"/>
            </a:lvl7pPr>
            <a:lvl8pPr marL="2390059" indent="0">
              <a:buNone/>
              <a:defRPr sz="1494"/>
            </a:lvl8pPr>
            <a:lvl9pPr marL="2731496" indent="0">
              <a:buNone/>
              <a:defRPr sz="1494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94736-C877-EE93-5EB5-2ADEC91F6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1779" y="1536382"/>
            <a:ext cx="4128849" cy="2846339"/>
          </a:xfrm>
        </p:spPr>
        <p:txBody>
          <a:bodyPr/>
          <a:lstStyle>
            <a:lvl1pPr marL="0" indent="0">
              <a:buNone/>
              <a:defRPr sz="1195"/>
            </a:lvl1pPr>
            <a:lvl2pPr marL="341437" indent="0">
              <a:buNone/>
              <a:defRPr sz="1046"/>
            </a:lvl2pPr>
            <a:lvl3pPr marL="682874" indent="0">
              <a:buNone/>
              <a:defRPr sz="896"/>
            </a:lvl3pPr>
            <a:lvl4pPr marL="1024311" indent="0">
              <a:buNone/>
              <a:defRPr sz="747"/>
            </a:lvl4pPr>
            <a:lvl5pPr marL="1365748" indent="0">
              <a:buNone/>
              <a:defRPr sz="747"/>
            </a:lvl5pPr>
            <a:lvl6pPr marL="1707185" indent="0">
              <a:buNone/>
              <a:defRPr sz="747"/>
            </a:lvl6pPr>
            <a:lvl7pPr marL="2048622" indent="0">
              <a:buNone/>
              <a:defRPr sz="747"/>
            </a:lvl7pPr>
            <a:lvl8pPr marL="2390059" indent="0">
              <a:buNone/>
              <a:defRPr sz="747"/>
            </a:lvl8pPr>
            <a:lvl9pPr marL="2731496" indent="0">
              <a:buNone/>
              <a:defRPr sz="7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13FED-E629-AAB8-672D-C91A6AD1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5EBC7-3366-2881-4373-EDEA6F8A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2FDD9-6947-52A7-90FC-9E6693E7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90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31C1-489D-CCBF-3F39-DCB3B519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2E148-E229-C01F-75DE-B06CA1ADC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E59A5-3573-1DDA-D37D-5073BA66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71330-FE6D-2D11-575E-849173C2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FE39-AB21-5D14-B0D1-4865811D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24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D9379-CF1E-6C71-8545-8A6553B68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146" y="272660"/>
            <a:ext cx="2760345" cy="4340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6D724-E540-7E0A-4481-82800BD15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1" y="272660"/>
            <a:ext cx="8121015" cy="4340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EE0EC-1680-A2F3-92E9-EA99DEEC3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3FC7B-06A6-C5CD-A875-8135F9E4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16E99-2052-ED2D-3D67-EEFB469C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29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6D21D-BB26-3CDC-A040-EA24F86A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110" y="272662"/>
            <a:ext cx="11041380" cy="989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C6D8C-0078-F0B1-CC19-19F137C29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110" y="1363302"/>
            <a:ext cx="11041380" cy="3249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5AB18-0DC9-B302-DD4C-96BA8FAB86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" y="4746665"/>
            <a:ext cx="288036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6BEF0-C78D-4508-8240-3E7246AD3D22}" type="datetimeFigureOut">
              <a:rPr lang="en-GB" smtClean="0"/>
              <a:t>04/10/2026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3A8E-61BF-5558-9356-41969ED12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40530" y="4746665"/>
            <a:ext cx="432054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F1EA2-AFEB-DD9E-931B-FC214BD3D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1130" y="4746665"/>
            <a:ext cx="288036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BEF78-3BFE-4BD7-8EE3-D80DDB1AB6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2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2874" rtl="0" eaLnBrk="1" latinLnBrk="0" hangingPunct="1">
        <a:lnSpc>
          <a:spcPct val="90000"/>
        </a:lnSpc>
        <a:spcBef>
          <a:spcPct val="0"/>
        </a:spcBef>
        <a:buNone/>
        <a:defRPr sz="32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718" indent="-170718" algn="l" defTabSz="6828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091" kern="1200">
          <a:solidFill>
            <a:schemeClr val="tx1"/>
          </a:solidFill>
          <a:latin typeface="+mn-lt"/>
          <a:ea typeface="+mn-ea"/>
          <a:cs typeface="+mn-cs"/>
        </a:defRPr>
      </a:lvl1pPr>
      <a:lvl2pPr marL="512155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792" kern="1200">
          <a:solidFill>
            <a:schemeClr val="tx1"/>
          </a:solidFill>
          <a:latin typeface="+mn-lt"/>
          <a:ea typeface="+mn-ea"/>
          <a:cs typeface="+mn-cs"/>
        </a:defRPr>
      </a:lvl2pPr>
      <a:lvl3pPr marL="853592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494" kern="1200">
          <a:solidFill>
            <a:schemeClr val="tx1"/>
          </a:solidFill>
          <a:latin typeface="+mn-lt"/>
          <a:ea typeface="+mn-ea"/>
          <a:cs typeface="+mn-cs"/>
        </a:defRPr>
      </a:lvl3pPr>
      <a:lvl4pPr marL="1195029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4pPr>
      <a:lvl5pPr marL="1536466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5pPr>
      <a:lvl6pPr marL="1877903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6pPr>
      <a:lvl7pPr marL="2219340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7pPr>
      <a:lvl8pPr marL="2560777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8pPr>
      <a:lvl9pPr marL="2902214" indent="-170718" algn="l" defTabSz="68287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41437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2pPr>
      <a:lvl3pPr marL="682874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3pPr>
      <a:lvl4pPr marL="1024311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4pPr>
      <a:lvl5pPr marL="1365748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5pPr>
      <a:lvl6pPr marL="1707185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6pPr>
      <a:lvl7pPr marL="2048622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7pPr>
      <a:lvl8pPr marL="2390059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8pPr>
      <a:lvl9pPr marL="2731496" algn="l" defTabSz="682874" rtl="0" eaLnBrk="1" latinLnBrk="0" hangingPunct="1">
        <a:defRPr sz="13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chart" Target="../charts/chart1.xml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chart" Target="../charts/chart2.xml"/><Relationship Id="rId5" Type="http://schemas.openxmlformats.org/officeDocument/2006/relationships/image" Target="../media/image2.sv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01700CA-F120-C819-29D8-3D10DD7DD649}"/>
              </a:ext>
            </a:extLst>
          </p:cNvPr>
          <p:cNvSpPr txBox="1"/>
          <p:nvPr/>
        </p:nvSpPr>
        <p:spPr>
          <a:xfrm>
            <a:off x="304800" y="101600"/>
            <a:ext cx="11404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2400" b="1">
                <a:solidFill>
                  <a:srgbClr val="773F9B"/>
                </a:solidFill>
                <a:latin typeface="Arial" panose="020B0604020202020204" pitchFamily="34" charset="0"/>
              </a:rPr>
              <a:t>Importance of Network Structure in ABMs of STIs: an HPVsim Study</a:t>
            </a:r>
          </a:p>
        </p:txBody>
      </p:sp>
      <p:pic>
        <p:nvPicPr>
          <p:cNvPr id="4" name="University of Oxford logo">
            <a:extLst>
              <a:ext uri="{FF2B5EF4-FFF2-40B4-BE49-F238E27FC236}">
                <a16:creationId xmlns:a16="http://schemas.microsoft.com/office/drawing/2014/main" id="{2F767D20-84A2-6FE7-E408-A46AA3D2F8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600" y="76200"/>
            <a:ext cx="584200" cy="584200"/>
          </a:xfrm>
          <a:prstGeom prst="rect">
            <a:avLst/>
          </a:prstGeom>
        </p:spPr>
      </p:pic>
      <p:sp>
        <p:nvSpPr>
          <p:cNvPr id="5" name="Panel 1">
            <a:extLst>
              <a:ext uri="{FF2B5EF4-FFF2-40B4-BE49-F238E27FC236}">
                <a16:creationId xmlns:a16="http://schemas.microsoft.com/office/drawing/2014/main" id="{ED1032DF-85F6-9CC2-1AFF-C92DCEEE9BED}"/>
              </a:ext>
            </a:extLst>
          </p:cNvPr>
          <p:cNvSpPr/>
          <p:nvPr/>
        </p:nvSpPr>
        <p:spPr>
          <a:xfrm>
            <a:off x="304800" y="736600"/>
            <a:ext cx="29464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anel 1 heading">
            <a:extLst>
              <a:ext uri="{FF2B5EF4-FFF2-40B4-BE49-F238E27FC236}">
                <a16:creationId xmlns:a16="http://schemas.microsoft.com/office/drawing/2014/main" id="{8D7DF7F9-09E0-1C4F-8271-6B36E6EF0EA1}"/>
              </a:ext>
            </a:extLst>
          </p:cNvPr>
          <p:cNvSpPr/>
          <p:nvPr/>
        </p:nvSpPr>
        <p:spPr>
          <a:xfrm>
            <a:off x="457200" y="863600"/>
            <a:ext cx="1803017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1  The problem</a:t>
            </a:r>
          </a:p>
        </p:txBody>
      </p:sp>
      <p:sp>
        <p:nvSpPr>
          <p:cNvPr id="7" name="Panel 2">
            <a:extLst>
              <a:ext uri="{FF2B5EF4-FFF2-40B4-BE49-F238E27FC236}">
                <a16:creationId xmlns:a16="http://schemas.microsoft.com/office/drawing/2014/main" id="{E00758DE-0052-6B74-72AE-F20B42B8FD4E}"/>
              </a:ext>
            </a:extLst>
          </p:cNvPr>
          <p:cNvSpPr/>
          <p:nvPr/>
        </p:nvSpPr>
        <p:spPr>
          <a:xfrm>
            <a:off x="3536950" y="736600"/>
            <a:ext cx="36576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anel 2 heading">
            <a:extLst>
              <a:ext uri="{FF2B5EF4-FFF2-40B4-BE49-F238E27FC236}">
                <a16:creationId xmlns:a16="http://schemas.microsoft.com/office/drawing/2014/main" id="{688970BC-8EE1-79EB-16EE-E8AF2359B9BE}"/>
              </a:ext>
            </a:extLst>
          </p:cNvPr>
          <p:cNvSpPr/>
          <p:nvPr/>
        </p:nvSpPr>
        <p:spPr>
          <a:xfrm>
            <a:off x="3689350" y="863600"/>
            <a:ext cx="1901503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2  Our approach</a:t>
            </a:r>
          </a:p>
        </p:txBody>
      </p:sp>
      <p:sp>
        <p:nvSpPr>
          <p:cNvPr id="9" name="Panel 3">
            <a:extLst>
              <a:ext uri="{FF2B5EF4-FFF2-40B4-BE49-F238E27FC236}">
                <a16:creationId xmlns:a16="http://schemas.microsoft.com/office/drawing/2014/main" id="{5FC25C15-CD2D-643F-2D50-62956923968E}"/>
              </a:ext>
            </a:extLst>
          </p:cNvPr>
          <p:cNvSpPr/>
          <p:nvPr/>
        </p:nvSpPr>
        <p:spPr>
          <a:xfrm>
            <a:off x="7480300" y="736600"/>
            <a:ext cx="50165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anel 3 heading">
            <a:extLst>
              <a:ext uri="{FF2B5EF4-FFF2-40B4-BE49-F238E27FC236}">
                <a16:creationId xmlns:a16="http://schemas.microsoft.com/office/drawing/2014/main" id="{D28BD4E9-65CB-DD76-C1B7-D8EC4D44B3FC}"/>
              </a:ext>
            </a:extLst>
          </p:cNvPr>
          <p:cNvSpPr/>
          <p:nvPr/>
        </p:nvSpPr>
        <p:spPr>
          <a:xfrm>
            <a:off x="7632700" y="863600"/>
            <a:ext cx="2012753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3  What we found</a:t>
            </a:r>
          </a:p>
        </p:txBody>
      </p:sp>
      <p:sp>
        <p:nvSpPr>
          <p:cNvPr id="11" name="Arrow 1">
            <a:extLst>
              <a:ext uri="{FF2B5EF4-FFF2-40B4-BE49-F238E27FC236}">
                <a16:creationId xmlns:a16="http://schemas.microsoft.com/office/drawing/2014/main" id="{7ACF611D-4653-AE80-6AFE-46C09F5DD03B}"/>
              </a:ext>
            </a:extLst>
          </p:cNvPr>
          <p:cNvSpPr/>
          <p:nvPr/>
        </p:nvSpPr>
        <p:spPr>
          <a:xfrm>
            <a:off x="3317875" y="2298700"/>
            <a:ext cx="152400" cy="330200"/>
          </a:xfrm>
          <a:prstGeom prst="chevron">
            <a:avLst>
              <a:gd name="adj" fmla="val 55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Arrow 2">
            <a:extLst>
              <a:ext uri="{FF2B5EF4-FFF2-40B4-BE49-F238E27FC236}">
                <a16:creationId xmlns:a16="http://schemas.microsoft.com/office/drawing/2014/main" id="{EA7F0A6C-238B-40F2-CCA4-13DA1B4717EE}"/>
              </a:ext>
            </a:extLst>
          </p:cNvPr>
          <p:cNvSpPr/>
          <p:nvPr/>
        </p:nvSpPr>
        <p:spPr>
          <a:xfrm>
            <a:off x="7261225" y="2298700"/>
            <a:ext cx="152400" cy="330200"/>
          </a:xfrm>
          <a:prstGeom prst="chevron">
            <a:avLst>
              <a:gd name="adj" fmla="val 55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4" name="Icon people">
            <a:extLst>
              <a:ext uri="{FF2B5EF4-FFF2-40B4-BE49-F238E27FC236}">
                <a16:creationId xmlns:a16="http://schemas.microsoft.com/office/drawing/2014/main" id="{A2CA6BE3-6C87-F66F-FD82-A1F70725294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1371600"/>
            <a:ext cx="787400" cy="787400"/>
          </a:xfrm>
          <a:prstGeom prst="rect">
            <a:avLst/>
          </a:prstGeom>
        </p:spPr>
      </p:pic>
      <p:grpSp>
        <p:nvGrpSpPr>
          <p:cNvPr id="35" name="Icon HPV">
            <a:extLst>
              <a:ext uri="{FF2B5EF4-FFF2-40B4-BE49-F238E27FC236}">
                <a16:creationId xmlns:a16="http://schemas.microsoft.com/office/drawing/2014/main" id="{8FB4EC90-4DFD-5917-42CB-0B796986ACA9}"/>
              </a:ext>
            </a:extLst>
          </p:cNvPr>
          <p:cNvGrpSpPr/>
          <p:nvPr/>
        </p:nvGrpSpPr>
        <p:grpSpPr>
          <a:xfrm>
            <a:off x="1871726" y="1363726"/>
            <a:ext cx="803148" cy="803148"/>
            <a:chOff x="1871726" y="1363726"/>
            <a:chExt cx="803148" cy="803148"/>
          </a:xfrm>
        </p:grpSpPr>
        <p:sp>
          <p:nvSpPr>
            <p:cNvPr id="15" name="Icon HPV rim 1">
              <a:extLst>
                <a:ext uri="{FF2B5EF4-FFF2-40B4-BE49-F238E27FC236}">
                  <a16:creationId xmlns:a16="http://schemas.microsoft.com/office/drawing/2014/main" id="{B5874342-1BE0-2ADF-C12A-A339127404FD}"/>
                </a:ext>
              </a:extLst>
            </p:cNvPr>
            <p:cNvSpPr/>
            <p:nvPr/>
          </p:nvSpPr>
          <p:spPr>
            <a:xfrm>
              <a:off x="2501646" y="167868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Icon HPV rim 2">
              <a:extLst>
                <a:ext uri="{FF2B5EF4-FFF2-40B4-BE49-F238E27FC236}">
                  <a16:creationId xmlns:a16="http://schemas.microsoft.com/office/drawing/2014/main" id="{72766BB9-6CBB-C3F8-AA9C-8D596BABAE14}"/>
                </a:ext>
              </a:extLst>
            </p:cNvPr>
            <p:cNvSpPr/>
            <p:nvPr/>
          </p:nvSpPr>
          <p:spPr>
            <a:xfrm>
              <a:off x="2459449" y="183616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Icon HPV rim 3">
              <a:extLst>
                <a:ext uri="{FF2B5EF4-FFF2-40B4-BE49-F238E27FC236}">
                  <a16:creationId xmlns:a16="http://schemas.microsoft.com/office/drawing/2014/main" id="{3EFA05A7-6090-BF9C-56CC-2DC1168298E3}"/>
                </a:ext>
              </a:extLst>
            </p:cNvPr>
            <p:cNvSpPr/>
            <p:nvPr/>
          </p:nvSpPr>
          <p:spPr>
            <a:xfrm>
              <a:off x="2344166" y="1951449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Icon HPV rim 4">
              <a:extLst>
                <a:ext uri="{FF2B5EF4-FFF2-40B4-BE49-F238E27FC236}">
                  <a16:creationId xmlns:a16="http://schemas.microsoft.com/office/drawing/2014/main" id="{72D879C9-B3D1-FE31-07C6-6C9E4A1EF0AA}"/>
                </a:ext>
              </a:extLst>
            </p:cNvPr>
            <p:cNvSpPr/>
            <p:nvPr/>
          </p:nvSpPr>
          <p:spPr>
            <a:xfrm>
              <a:off x="2186686" y="199364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Icon HPV rim 5">
              <a:extLst>
                <a:ext uri="{FF2B5EF4-FFF2-40B4-BE49-F238E27FC236}">
                  <a16:creationId xmlns:a16="http://schemas.microsoft.com/office/drawing/2014/main" id="{37F842E1-D67B-DC19-FEBE-D57CAD686F7A}"/>
                </a:ext>
              </a:extLst>
            </p:cNvPr>
            <p:cNvSpPr/>
            <p:nvPr/>
          </p:nvSpPr>
          <p:spPr>
            <a:xfrm>
              <a:off x="2029206" y="1951449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Icon HPV rim 6">
              <a:extLst>
                <a:ext uri="{FF2B5EF4-FFF2-40B4-BE49-F238E27FC236}">
                  <a16:creationId xmlns:a16="http://schemas.microsoft.com/office/drawing/2014/main" id="{6E1F1B0B-F541-C09A-4C19-9E2357154833}"/>
                </a:ext>
              </a:extLst>
            </p:cNvPr>
            <p:cNvSpPr/>
            <p:nvPr/>
          </p:nvSpPr>
          <p:spPr>
            <a:xfrm>
              <a:off x="1913923" y="183616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Icon HPV rim 7">
              <a:extLst>
                <a:ext uri="{FF2B5EF4-FFF2-40B4-BE49-F238E27FC236}">
                  <a16:creationId xmlns:a16="http://schemas.microsoft.com/office/drawing/2014/main" id="{A057ECC5-548B-F872-5683-9463E29EF80D}"/>
                </a:ext>
              </a:extLst>
            </p:cNvPr>
            <p:cNvSpPr/>
            <p:nvPr/>
          </p:nvSpPr>
          <p:spPr>
            <a:xfrm>
              <a:off x="1871726" y="167868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Icon HPV rim 8">
              <a:extLst>
                <a:ext uri="{FF2B5EF4-FFF2-40B4-BE49-F238E27FC236}">
                  <a16:creationId xmlns:a16="http://schemas.microsoft.com/office/drawing/2014/main" id="{7B202CA4-44B3-45E8-5BB9-0E90C6D26840}"/>
                </a:ext>
              </a:extLst>
            </p:cNvPr>
            <p:cNvSpPr/>
            <p:nvPr/>
          </p:nvSpPr>
          <p:spPr>
            <a:xfrm>
              <a:off x="1913923" y="152120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Icon HPV rim 9">
              <a:extLst>
                <a:ext uri="{FF2B5EF4-FFF2-40B4-BE49-F238E27FC236}">
                  <a16:creationId xmlns:a16="http://schemas.microsoft.com/office/drawing/2014/main" id="{166E45E4-4ACC-3090-377D-D103CDA309F5}"/>
                </a:ext>
              </a:extLst>
            </p:cNvPr>
            <p:cNvSpPr/>
            <p:nvPr/>
          </p:nvSpPr>
          <p:spPr>
            <a:xfrm>
              <a:off x="2029206" y="1405923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Icon HPV rim 10">
              <a:extLst>
                <a:ext uri="{FF2B5EF4-FFF2-40B4-BE49-F238E27FC236}">
                  <a16:creationId xmlns:a16="http://schemas.microsoft.com/office/drawing/2014/main" id="{DED4AD8D-DE7B-6B9C-EC9F-FC89D1364208}"/>
                </a:ext>
              </a:extLst>
            </p:cNvPr>
            <p:cNvSpPr/>
            <p:nvPr/>
          </p:nvSpPr>
          <p:spPr>
            <a:xfrm>
              <a:off x="2186686" y="136372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Icon HPV rim 11">
              <a:extLst>
                <a:ext uri="{FF2B5EF4-FFF2-40B4-BE49-F238E27FC236}">
                  <a16:creationId xmlns:a16="http://schemas.microsoft.com/office/drawing/2014/main" id="{8BE02B79-DFC6-13F4-290D-9BFBF16A44A0}"/>
                </a:ext>
              </a:extLst>
            </p:cNvPr>
            <p:cNvSpPr/>
            <p:nvPr/>
          </p:nvSpPr>
          <p:spPr>
            <a:xfrm>
              <a:off x="2344166" y="1405923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Icon HPV rim 12">
              <a:extLst>
                <a:ext uri="{FF2B5EF4-FFF2-40B4-BE49-F238E27FC236}">
                  <a16:creationId xmlns:a16="http://schemas.microsoft.com/office/drawing/2014/main" id="{719784A8-5896-4B39-042A-1CA8C6B39ECD}"/>
                </a:ext>
              </a:extLst>
            </p:cNvPr>
            <p:cNvSpPr/>
            <p:nvPr/>
          </p:nvSpPr>
          <p:spPr>
            <a:xfrm>
              <a:off x="2459449" y="1521206"/>
              <a:ext cx="173228" cy="173228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Icon HPV body">
              <a:extLst>
                <a:ext uri="{FF2B5EF4-FFF2-40B4-BE49-F238E27FC236}">
                  <a16:creationId xmlns:a16="http://schemas.microsoft.com/office/drawing/2014/main" id="{71679654-087B-1D67-5B1D-F1C020F7D29B}"/>
                </a:ext>
              </a:extLst>
            </p:cNvPr>
            <p:cNvSpPr/>
            <p:nvPr/>
          </p:nvSpPr>
          <p:spPr>
            <a:xfrm>
              <a:off x="1958340" y="1450340"/>
              <a:ext cx="629920" cy="629920"/>
            </a:xfrm>
            <a:prstGeom prst="ellipse">
              <a:avLst/>
            </a:prstGeom>
            <a:solidFill>
              <a:srgbClr val="773F9B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Icon HPV capsomere 1">
              <a:extLst>
                <a:ext uri="{FF2B5EF4-FFF2-40B4-BE49-F238E27FC236}">
                  <a16:creationId xmlns:a16="http://schemas.microsoft.com/office/drawing/2014/main" id="{72781964-9720-224D-4E2B-7760421E520E}"/>
                </a:ext>
              </a:extLst>
            </p:cNvPr>
            <p:cNvSpPr/>
            <p:nvPr/>
          </p:nvSpPr>
          <p:spPr>
            <a:xfrm>
              <a:off x="2202434" y="169443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Icon HPV capsomere 2">
              <a:extLst>
                <a:ext uri="{FF2B5EF4-FFF2-40B4-BE49-F238E27FC236}">
                  <a16:creationId xmlns:a16="http://schemas.microsoft.com/office/drawing/2014/main" id="{C184D8F7-B723-93B2-15E1-4719B773FAF6}"/>
                </a:ext>
              </a:extLst>
            </p:cNvPr>
            <p:cNvSpPr/>
            <p:nvPr/>
          </p:nvSpPr>
          <p:spPr>
            <a:xfrm>
              <a:off x="2338816" y="177317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Icon HPV capsomere 3">
              <a:extLst>
                <a:ext uri="{FF2B5EF4-FFF2-40B4-BE49-F238E27FC236}">
                  <a16:creationId xmlns:a16="http://schemas.microsoft.com/office/drawing/2014/main" id="{6F6F3959-AB87-B054-414A-EAAB7CFAC235}"/>
                </a:ext>
              </a:extLst>
            </p:cNvPr>
            <p:cNvSpPr/>
            <p:nvPr/>
          </p:nvSpPr>
          <p:spPr>
            <a:xfrm>
              <a:off x="2202434" y="185191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Icon HPV capsomere 4">
              <a:extLst>
                <a:ext uri="{FF2B5EF4-FFF2-40B4-BE49-F238E27FC236}">
                  <a16:creationId xmlns:a16="http://schemas.microsoft.com/office/drawing/2014/main" id="{B13FEC45-7E6C-22CC-956F-B590BA29547D}"/>
                </a:ext>
              </a:extLst>
            </p:cNvPr>
            <p:cNvSpPr/>
            <p:nvPr/>
          </p:nvSpPr>
          <p:spPr>
            <a:xfrm>
              <a:off x="2066052" y="177317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Icon HPV capsomere 5">
              <a:extLst>
                <a:ext uri="{FF2B5EF4-FFF2-40B4-BE49-F238E27FC236}">
                  <a16:creationId xmlns:a16="http://schemas.microsoft.com/office/drawing/2014/main" id="{860C61DC-4CD1-A0F2-A54B-40B51DCE69CB}"/>
                </a:ext>
              </a:extLst>
            </p:cNvPr>
            <p:cNvSpPr/>
            <p:nvPr/>
          </p:nvSpPr>
          <p:spPr>
            <a:xfrm>
              <a:off x="2066052" y="161569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Icon HPV capsomere 6">
              <a:extLst>
                <a:ext uri="{FF2B5EF4-FFF2-40B4-BE49-F238E27FC236}">
                  <a16:creationId xmlns:a16="http://schemas.microsoft.com/office/drawing/2014/main" id="{8ADB7EF5-70EC-2655-76CB-CBFED9071894}"/>
                </a:ext>
              </a:extLst>
            </p:cNvPr>
            <p:cNvSpPr/>
            <p:nvPr/>
          </p:nvSpPr>
          <p:spPr>
            <a:xfrm>
              <a:off x="2202434" y="153695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Icon HPV capsomere 7">
              <a:extLst>
                <a:ext uri="{FF2B5EF4-FFF2-40B4-BE49-F238E27FC236}">
                  <a16:creationId xmlns:a16="http://schemas.microsoft.com/office/drawing/2014/main" id="{20FF9ABF-5269-534A-A36B-4DCCC6135034}"/>
                </a:ext>
              </a:extLst>
            </p:cNvPr>
            <p:cNvSpPr/>
            <p:nvPr/>
          </p:nvSpPr>
          <p:spPr>
            <a:xfrm>
              <a:off x="2338816" y="1615694"/>
              <a:ext cx="141732" cy="141732"/>
            </a:xfrm>
            <a:prstGeom prst="ellipse">
              <a:avLst/>
            </a:prstGeom>
            <a:solidFill>
              <a:srgbClr val="E4D5E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6" name="Panel 1 text">
            <a:extLst>
              <a:ext uri="{FF2B5EF4-FFF2-40B4-BE49-F238E27FC236}">
                <a16:creationId xmlns:a16="http://schemas.microsoft.com/office/drawing/2014/main" id="{63689140-36AF-87BD-382E-6D1FD0D1482B}"/>
              </a:ext>
            </a:extLst>
          </p:cNvPr>
          <p:cNvSpPr txBox="1"/>
          <p:nvPr/>
        </p:nvSpPr>
        <p:spPr>
          <a:xfrm>
            <a:off x="508000" y="2362200"/>
            <a:ext cx="2540000" cy="172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Most STI models assume everyone has a </a:t>
            </a:r>
            <a:r>
              <a:rPr lang="en-GB" sz="1300" b="1">
                <a:solidFill>
                  <a:srgbClr val="2B2233"/>
                </a:solidFill>
                <a:latin typeface="Arial" panose="020B0604020202020204" pitchFamily="34" charset="0"/>
              </a:rPr>
              <a:t>similar number</a:t>
            </a:r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 of partners.</a:t>
            </a:r>
          </a:p>
          <a:p>
            <a:pPr>
              <a:spcAft>
                <a:spcPts val="800"/>
              </a:spcAft>
            </a:pPr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Real behaviour (Natsal-3) is </a:t>
            </a:r>
            <a:r>
              <a:rPr lang="en-GB" sz="1300" b="1">
                <a:solidFill>
                  <a:srgbClr val="773F9B"/>
                </a:solidFill>
                <a:latin typeface="Arial" panose="020B0604020202020204" pitchFamily="34" charset="0"/>
              </a:rPr>
              <a:t>highly skewed</a:t>
            </a:r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: a few people have many partners, many have none.</a:t>
            </a:r>
          </a:p>
        </p:txBody>
      </p:sp>
      <p:pic>
        <p:nvPicPr>
          <p:cNvPr id="38" name="Icon model">
            <a:extLst>
              <a:ext uri="{FF2B5EF4-FFF2-40B4-BE49-F238E27FC236}">
                <a16:creationId xmlns:a16="http://schemas.microsoft.com/office/drawing/2014/main" id="{E7F20AC6-9C24-330E-AE3F-46A79C3456A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0" y="1371600"/>
            <a:ext cx="431800" cy="431800"/>
          </a:xfrm>
          <a:prstGeom prst="rect">
            <a:avLst/>
          </a:prstGeom>
        </p:spPr>
      </p:pic>
      <p:sp>
        <p:nvSpPr>
          <p:cNvPr id="39" name="Model text">
            <a:extLst>
              <a:ext uri="{FF2B5EF4-FFF2-40B4-BE49-F238E27FC236}">
                <a16:creationId xmlns:a16="http://schemas.microsoft.com/office/drawing/2014/main" id="{D0D1C56B-599C-9371-BA96-C5B8BF97C55E}"/>
              </a:ext>
            </a:extLst>
          </p:cNvPr>
          <p:cNvSpPr txBox="1"/>
          <p:nvPr/>
        </p:nvSpPr>
        <p:spPr>
          <a:xfrm>
            <a:off x="4248150" y="1320800"/>
            <a:ext cx="2768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 b="1">
                <a:solidFill>
                  <a:srgbClr val="2B2233"/>
                </a:solidFill>
                <a:latin typeface="Arial" panose="020B0604020202020204" pitchFamily="34" charset="0"/>
              </a:rPr>
              <a:t>HPVsim</a:t>
            </a:r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 agent-based model (ABM) on three partnership networks</a:t>
            </a:r>
          </a:p>
        </p:txBody>
      </p:sp>
      <p:pic>
        <p:nvPicPr>
          <p:cNvPr id="41" name="Network Default">
            <a:extLst>
              <a:ext uri="{FF2B5EF4-FFF2-40B4-BE49-F238E27FC236}">
                <a16:creationId xmlns:a16="http://schemas.microsoft.com/office/drawing/2014/main" id="{092E457E-C169-2E19-4111-092C4B53953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955800"/>
            <a:ext cx="1066800" cy="1066800"/>
          </a:xfrm>
          <a:prstGeom prst="rect">
            <a:avLst/>
          </a:prstGeom>
        </p:spPr>
      </p:pic>
      <p:sp>
        <p:nvSpPr>
          <p:cNvPr id="42" name="Label Default">
            <a:extLst>
              <a:ext uri="{FF2B5EF4-FFF2-40B4-BE49-F238E27FC236}">
                <a16:creationId xmlns:a16="http://schemas.microsoft.com/office/drawing/2014/main" id="{70A682F1-7053-25E1-C8A1-EBE6AAABACA8}"/>
              </a:ext>
            </a:extLst>
          </p:cNvPr>
          <p:cNvSpPr txBox="1"/>
          <p:nvPr/>
        </p:nvSpPr>
        <p:spPr>
          <a:xfrm>
            <a:off x="3613150" y="3048000"/>
            <a:ext cx="127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Default</a:t>
            </a:r>
          </a:p>
        </p:txBody>
      </p:sp>
      <p:pic>
        <p:nvPicPr>
          <p:cNvPr id="44" name="Network Gamma">
            <a:extLst>
              <a:ext uri="{FF2B5EF4-FFF2-40B4-BE49-F238E27FC236}">
                <a16:creationId xmlns:a16="http://schemas.microsoft.com/office/drawing/2014/main" id="{585F0391-FE6E-D042-7A46-2EC685337E6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350" y="1955800"/>
            <a:ext cx="1066800" cy="1066800"/>
          </a:xfrm>
          <a:prstGeom prst="rect">
            <a:avLst/>
          </a:prstGeom>
        </p:spPr>
      </p:pic>
      <p:sp>
        <p:nvSpPr>
          <p:cNvPr id="45" name="Label Gamma">
            <a:extLst>
              <a:ext uri="{FF2B5EF4-FFF2-40B4-BE49-F238E27FC236}">
                <a16:creationId xmlns:a16="http://schemas.microsoft.com/office/drawing/2014/main" id="{07F86A13-BE47-5A2E-DE93-108C539A721D}"/>
              </a:ext>
            </a:extLst>
          </p:cNvPr>
          <p:cNvSpPr txBox="1"/>
          <p:nvPr/>
        </p:nvSpPr>
        <p:spPr>
          <a:xfrm>
            <a:off x="4730750" y="3048000"/>
            <a:ext cx="127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Gamma</a:t>
            </a:r>
          </a:p>
        </p:txBody>
      </p:sp>
      <p:pic>
        <p:nvPicPr>
          <p:cNvPr id="47" name="Network Power law">
            <a:extLst>
              <a:ext uri="{FF2B5EF4-FFF2-40B4-BE49-F238E27FC236}">
                <a16:creationId xmlns:a16="http://schemas.microsoft.com/office/drawing/2014/main" id="{D1DEA8CC-FE7C-E6F5-0DC3-A9B84D34C82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950" y="1955800"/>
            <a:ext cx="1066800" cy="1066800"/>
          </a:xfrm>
          <a:prstGeom prst="rect">
            <a:avLst/>
          </a:prstGeom>
        </p:spPr>
      </p:pic>
      <p:sp>
        <p:nvSpPr>
          <p:cNvPr id="48" name="Label Power law">
            <a:extLst>
              <a:ext uri="{FF2B5EF4-FFF2-40B4-BE49-F238E27FC236}">
                <a16:creationId xmlns:a16="http://schemas.microsoft.com/office/drawing/2014/main" id="{C71A4C48-0CEE-DB7C-C1F9-249157311ACC}"/>
              </a:ext>
            </a:extLst>
          </p:cNvPr>
          <p:cNvSpPr txBox="1"/>
          <p:nvPr/>
        </p:nvSpPr>
        <p:spPr>
          <a:xfrm>
            <a:off x="5848350" y="3048000"/>
            <a:ext cx="127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Power law</a:t>
            </a:r>
          </a:p>
        </p:txBody>
      </p:sp>
      <p:cxnSp>
        <p:nvCxnSpPr>
          <p:cNvPr id="49" name="Heterogeneity arrow">
            <a:extLst>
              <a:ext uri="{FF2B5EF4-FFF2-40B4-BE49-F238E27FC236}">
                <a16:creationId xmlns:a16="http://schemas.microsoft.com/office/drawing/2014/main" id="{702528F0-C627-6AC6-7F91-65846FEE81B0}"/>
              </a:ext>
            </a:extLst>
          </p:cNvPr>
          <p:cNvCxnSpPr/>
          <p:nvPr/>
        </p:nvCxnSpPr>
        <p:spPr>
          <a:xfrm>
            <a:off x="3892550" y="3378200"/>
            <a:ext cx="2946400" cy="0"/>
          </a:xfrm>
          <a:prstGeom prst="line">
            <a:avLst/>
          </a:prstGeom>
          <a:ln w="22225">
            <a:solidFill>
              <a:srgbClr val="773F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Heterogeneity label">
            <a:extLst>
              <a:ext uri="{FF2B5EF4-FFF2-40B4-BE49-F238E27FC236}">
                <a16:creationId xmlns:a16="http://schemas.microsoft.com/office/drawing/2014/main" id="{B4CEC739-68B3-2922-D520-1D884CF42510}"/>
              </a:ext>
            </a:extLst>
          </p:cNvPr>
          <p:cNvSpPr txBox="1"/>
          <p:nvPr/>
        </p:nvSpPr>
        <p:spPr>
          <a:xfrm>
            <a:off x="3714750" y="3416300"/>
            <a:ext cx="330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 i="1">
                <a:solidFill>
                  <a:srgbClr val="6E6378"/>
                </a:solidFill>
                <a:latin typeface="Arial" panose="020B0604020202020204" pitchFamily="34" charset="0"/>
              </a:rPr>
              <a:t>increasing heterogeneity</a:t>
            </a:r>
          </a:p>
        </p:txBody>
      </p:sp>
      <p:sp>
        <p:nvSpPr>
          <p:cNvPr id="51" name="Network legend">
            <a:extLst>
              <a:ext uri="{FF2B5EF4-FFF2-40B4-BE49-F238E27FC236}">
                <a16:creationId xmlns:a16="http://schemas.microsoft.com/office/drawing/2014/main" id="{F1147596-1C15-89A6-0845-8C48DCF700CA}"/>
              </a:ext>
            </a:extLst>
          </p:cNvPr>
          <p:cNvSpPr txBox="1"/>
          <p:nvPr/>
        </p:nvSpPr>
        <p:spPr>
          <a:xfrm>
            <a:off x="3714750" y="3708400"/>
            <a:ext cx="3302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GB" sz="1100" b="1">
                <a:solidFill>
                  <a:srgbClr val="2B2233"/>
                </a:solidFill>
                <a:latin typeface="Arial" panose="020B0604020202020204" pitchFamily="34" charset="0"/>
              </a:rPr>
              <a:t>Same mean: 1.4 partners/year (Natsal-3)</a:t>
            </a:r>
          </a:p>
          <a:p>
            <a:pPr algn="ctr">
              <a:spcAft>
                <a:spcPts val="200"/>
              </a:spcAft>
            </a:pPr>
            <a:r>
              <a:rPr lang="en-GB" sz="1100">
                <a:solidFill>
                  <a:srgbClr val="EB6834"/>
                </a:solidFill>
                <a:latin typeface="Arial" panose="020B0604020202020204" pitchFamily="34" charset="0"/>
              </a:rPr>
              <a:t>●</a:t>
            </a:r>
            <a:r>
              <a:rPr lang="en-GB" sz="1100">
                <a:solidFill>
                  <a:srgbClr val="2B2233"/>
                </a:solidFill>
                <a:latin typeface="Arial" panose="020B0604020202020204" pitchFamily="34" charset="0"/>
              </a:rPr>
              <a:t> women   </a:t>
            </a:r>
            <a:r>
              <a:rPr lang="en-GB" sz="1100">
                <a:solidFill>
                  <a:srgbClr val="2A78D6"/>
                </a:solidFill>
                <a:latin typeface="Arial" panose="020B0604020202020204" pitchFamily="34" charset="0"/>
              </a:rPr>
              <a:t>■</a:t>
            </a:r>
            <a:r>
              <a:rPr lang="en-GB" sz="1100">
                <a:solidFill>
                  <a:srgbClr val="2B2233"/>
                </a:solidFill>
                <a:latin typeface="Arial" panose="020B0604020202020204" pitchFamily="34" charset="0"/>
              </a:rPr>
              <a:t> men   size = no. of partners</a:t>
            </a:r>
          </a:p>
        </p:txBody>
      </p:sp>
      <p:pic>
        <p:nvPicPr>
          <p:cNvPr id="53" name="Icon cervical cancer">
            <a:extLst>
              <a:ext uri="{FF2B5EF4-FFF2-40B4-BE49-F238E27FC236}">
                <a16:creationId xmlns:a16="http://schemas.microsoft.com/office/drawing/2014/main" id="{E584B746-7119-A56A-5C62-7D7BD35BB09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63400" y="850900"/>
            <a:ext cx="381000" cy="381000"/>
          </a:xfrm>
          <a:prstGeom prst="rect">
            <a:avLst/>
          </a:prstGeom>
        </p:spPr>
      </p:pic>
      <p:sp>
        <p:nvSpPr>
          <p:cNvPr id="54" name="Finding 1 card">
            <a:extLst>
              <a:ext uri="{FF2B5EF4-FFF2-40B4-BE49-F238E27FC236}">
                <a16:creationId xmlns:a16="http://schemas.microsoft.com/office/drawing/2014/main" id="{9F6DD5AB-1B85-4244-DF25-506C008D4766}"/>
              </a:ext>
            </a:extLst>
          </p:cNvPr>
          <p:cNvSpPr/>
          <p:nvPr/>
        </p:nvSpPr>
        <p:spPr>
          <a:xfrm>
            <a:off x="7632700" y="1320800"/>
            <a:ext cx="3060700" cy="233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Finding 1 heading">
            <a:extLst>
              <a:ext uri="{FF2B5EF4-FFF2-40B4-BE49-F238E27FC236}">
                <a16:creationId xmlns:a16="http://schemas.microsoft.com/office/drawing/2014/main" id="{6812C0CF-BAB8-FDDD-DF23-A5DE6101804E}"/>
              </a:ext>
            </a:extLst>
          </p:cNvPr>
          <p:cNvSpPr txBox="1"/>
          <p:nvPr/>
        </p:nvSpPr>
        <p:spPr>
          <a:xfrm>
            <a:off x="7759700" y="1409700"/>
            <a:ext cx="2806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 b="1">
                <a:solidFill>
                  <a:srgbClr val="773F9B"/>
                </a:solidFill>
                <a:latin typeface="Arial" panose="020B0604020202020204" pitchFamily="34" charset="0"/>
              </a:rPr>
              <a:t>FINDING 1</a:t>
            </a:r>
          </a:p>
          <a:p>
            <a:r>
              <a:rPr lang="en-GB" sz="1100" b="1">
                <a:solidFill>
                  <a:srgbClr val="2B2233"/>
                </a:solidFill>
                <a:latin typeface="Arial" panose="020B0604020202020204" pitchFamily="34" charset="0"/>
              </a:rPr>
              <a:t>Cervical cancer per 100,000 women, 2040</a:t>
            </a:r>
          </a:p>
        </p:txBody>
      </p:sp>
      <p:graphicFrame>
        <p:nvGraphicFramePr>
          <p:cNvPr id="56" name="Cancer chart">
            <a:extLst>
              <a:ext uri="{FF2B5EF4-FFF2-40B4-BE49-F238E27FC236}">
                <a16:creationId xmlns:a16="http://schemas.microsoft.com/office/drawing/2014/main" id="{84B5D60D-C675-1409-57E6-9D14BA804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444317"/>
              </p:ext>
            </p:extLst>
          </p:nvPr>
        </p:nvGraphicFramePr>
        <p:xfrm>
          <a:off x="7683500" y="1828800"/>
          <a:ext cx="2959100" cy="177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7" name="Finding 2 card">
            <a:extLst>
              <a:ext uri="{FF2B5EF4-FFF2-40B4-BE49-F238E27FC236}">
                <a16:creationId xmlns:a16="http://schemas.microsoft.com/office/drawing/2014/main" id="{6B2766B1-A74A-FC11-BD8E-D04560C91421}"/>
              </a:ext>
            </a:extLst>
          </p:cNvPr>
          <p:cNvSpPr/>
          <p:nvPr/>
        </p:nvSpPr>
        <p:spPr>
          <a:xfrm>
            <a:off x="10795000" y="1320800"/>
            <a:ext cx="1549400" cy="2336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Finding 2 heading">
            <a:extLst>
              <a:ext uri="{FF2B5EF4-FFF2-40B4-BE49-F238E27FC236}">
                <a16:creationId xmlns:a16="http://schemas.microsoft.com/office/drawing/2014/main" id="{4A9A53C2-FD6F-C268-AC42-3ADA9D832CDB}"/>
              </a:ext>
            </a:extLst>
          </p:cNvPr>
          <p:cNvSpPr txBox="1"/>
          <p:nvPr/>
        </p:nvSpPr>
        <p:spPr>
          <a:xfrm>
            <a:off x="10922000" y="1409700"/>
            <a:ext cx="1295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 b="1">
                <a:solidFill>
                  <a:srgbClr val="773F9B"/>
                </a:solidFill>
                <a:latin typeface="Arial" panose="020B0604020202020204" pitchFamily="34" charset="0"/>
              </a:rPr>
              <a:t>FINDING 2</a:t>
            </a:r>
          </a:p>
          <a:p>
            <a:r>
              <a:rPr lang="en-GB" sz="1100" b="1">
                <a:solidFill>
                  <a:srgbClr val="2B2233"/>
                </a:solidFill>
                <a:latin typeface="Arial" panose="020B0604020202020204" pitchFamily="34" charset="0"/>
              </a:rPr>
              <a:t>Change vs default</a:t>
            </a:r>
          </a:p>
        </p:txBody>
      </p:sp>
      <p:sp>
        <p:nvSpPr>
          <p:cNvPr id="59" name="Stat 1">
            <a:extLst>
              <a:ext uri="{FF2B5EF4-FFF2-40B4-BE49-F238E27FC236}">
                <a16:creationId xmlns:a16="http://schemas.microsoft.com/office/drawing/2014/main" id="{EFA713DD-71AC-20E5-7A35-0C3C5CB2771A}"/>
              </a:ext>
            </a:extLst>
          </p:cNvPr>
          <p:cNvSpPr txBox="1"/>
          <p:nvPr/>
        </p:nvSpPr>
        <p:spPr>
          <a:xfrm>
            <a:off x="10922000" y="1879600"/>
            <a:ext cx="1295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000" b="1">
                <a:solidFill>
                  <a:srgbClr val="773F9B"/>
                </a:solidFill>
                <a:latin typeface="Arial" panose="020B0604020202020204" pitchFamily="34" charset="0"/>
              </a:rPr>
              <a:t>+96%</a:t>
            </a:r>
          </a:p>
        </p:txBody>
      </p:sp>
      <p:sp>
        <p:nvSpPr>
          <p:cNvPr id="60" name="Stat 1 network">
            <a:extLst>
              <a:ext uri="{FF2B5EF4-FFF2-40B4-BE49-F238E27FC236}">
                <a16:creationId xmlns:a16="http://schemas.microsoft.com/office/drawing/2014/main" id="{CCA894B3-A34F-B67E-79D9-ECA4A706F87C}"/>
              </a:ext>
            </a:extLst>
          </p:cNvPr>
          <p:cNvSpPr txBox="1"/>
          <p:nvPr/>
        </p:nvSpPr>
        <p:spPr>
          <a:xfrm>
            <a:off x="10922000" y="2336800"/>
            <a:ext cx="1295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Gamma</a:t>
            </a:r>
          </a:p>
        </p:txBody>
      </p:sp>
      <p:sp>
        <p:nvSpPr>
          <p:cNvPr id="61" name="Stat 2">
            <a:extLst>
              <a:ext uri="{FF2B5EF4-FFF2-40B4-BE49-F238E27FC236}">
                <a16:creationId xmlns:a16="http://schemas.microsoft.com/office/drawing/2014/main" id="{C2F40927-2B5C-72F9-9436-765FF2CF2D97}"/>
              </a:ext>
            </a:extLst>
          </p:cNvPr>
          <p:cNvSpPr txBox="1"/>
          <p:nvPr/>
        </p:nvSpPr>
        <p:spPr>
          <a:xfrm>
            <a:off x="10922000" y="2641600"/>
            <a:ext cx="1295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000" b="1">
                <a:solidFill>
                  <a:srgbClr val="773F9B"/>
                </a:solidFill>
                <a:latin typeface="Arial" panose="020B0604020202020204" pitchFamily="34" charset="0"/>
              </a:rPr>
              <a:t>+30%</a:t>
            </a:r>
          </a:p>
        </p:txBody>
      </p:sp>
      <p:sp>
        <p:nvSpPr>
          <p:cNvPr id="62" name="Stat 2 network">
            <a:extLst>
              <a:ext uri="{FF2B5EF4-FFF2-40B4-BE49-F238E27FC236}">
                <a16:creationId xmlns:a16="http://schemas.microsoft.com/office/drawing/2014/main" id="{4FDE596B-5FE4-2D92-3531-B47603629679}"/>
              </a:ext>
            </a:extLst>
          </p:cNvPr>
          <p:cNvSpPr txBox="1"/>
          <p:nvPr/>
        </p:nvSpPr>
        <p:spPr>
          <a:xfrm>
            <a:off x="10922000" y="3098800"/>
            <a:ext cx="1295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Power law</a:t>
            </a:r>
          </a:p>
        </p:txBody>
      </p:sp>
      <p:sp>
        <p:nvSpPr>
          <p:cNvPr id="63" name="Stats footnote">
            <a:extLst>
              <a:ext uri="{FF2B5EF4-FFF2-40B4-BE49-F238E27FC236}">
                <a16:creationId xmlns:a16="http://schemas.microsoft.com/office/drawing/2014/main" id="{20C19B9C-1C13-79AE-9CD3-D33B007E1B68}"/>
              </a:ext>
            </a:extLst>
          </p:cNvPr>
          <p:cNvSpPr txBox="1"/>
          <p:nvPr/>
        </p:nvSpPr>
        <p:spPr>
          <a:xfrm>
            <a:off x="10922000" y="3378200"/>
            <a:ext cx="1295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>
                <a:solidFill>
                  <a:srgbClr val="6E6378"/>
                </a:solidFill>
                <a:latin typeface="Arial" panose="020B0604020202020204" pitchFamily="34" charset="0"/>
              </a:rPr>
              <a:t>2040 medians, 50 runs</a:t>
            </a:r>
          </a:p>
        </p:txBody>
      </p:sp>
      <p:sp>
        <p:nvSpPr>
          <p:cNvPr id="64" name="Findings summary">
            <a:extLst>
              <a:ext uri="{FF2B5EF4-FFF2-40B4-BE49-F238E27FC236}">
                <a16:creationId xmlns:a16="http://schemas.microsoft.com/office/drawing/2014/main" id="{1554C1BD-3174-76D5-1E91-DBEBFFED2BF1}"/>
              </a:ext>
            </a:extLst>
          </p:cNvPr>
          <p:cNvSpPr txBox="1"/>
          <p:nvPr/>
        </p:nvSpPr>
        <p:spPr>
          <a:xfrm>
            <a:off x="7658100" y="3733800"/>
            <a:ext cx="46609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Same average behaviour, </a:t>
            </a:r>
            <a:r>
              <a:rPr lang="en-GB" sz="1250" b="1">
                <a:solidFill>
                  <a:srgbClr val="773F9B"/>
                </a:solidFill>
                <a:latin typeface="Arial" panose="020B0604020202020204" pitchFamily="34" charset="0"/>
              </a:rPr>
              <a:t>up to 2× more cervical cancer</a:t>
            </a:r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 projected on heterogeneous networks</a:t>
            </a:r>
          </a:p>
        </p:txBody>
      </p:sp>
      <p:sp>
        <p:nvSpPr>
          <p:cNvPr id="65" name="Conclusion band">
            <a:extLst>
              <a:ext uri="{FF2B5EF4-FFF2-40B4-BE49-F238E27FC236}">
                <a16:creationId xmlns:a16="http://schemas.microsoft.com/office/drawing/2014/main" id="{CC70D6B2-FECC-8BEE-FEC9-229E689EA707}"/>
              </a:ext>
            </a:extLst>
          </p:cNvPr>
          <p:cNvSpPr/>
          <p:nvPr/>
        </p:nvSpPr>
        <p:spPr>
          <a:xfrm>
            <a:off x="304800" y="4292600"/>
            <a:ext cx="12192000" cy="431800"/>
          </a:xfrm>
          <a:prstGeom prst="roundRect">
            <a:avLst>
              <a:gd name="adj" fmla="val 20000"/>
            </a:avLst>
          </a:prstGeom>
          <a:solidFill>
            <a:srgbClr val="773F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Conclusion text">
            <a:extLst>
              <a:ext uri="{FF2B5EF4-FFF2-40B4-BE49-F238E27FC236}">
                <a16:creationId xmlns:a16="http://schemas.microsoft.com/office/drawing/2014/main" id="{04CBF733-A554-FE4B-C806-0F9E4ADD2EEA}"/>
              </a:ext>
            </a:extLst>
          </p:cNvPr>
          <p:cNvSpPr txBox="1"/>
          <p:nvPr/>
        </p:nvSpPr>
        <p:spPr>
          <a:xfrm>
            <a:off x="508000" y="4292600"/>
            <a:ext cx="11785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400" b="1">
                <a:solidFill>
                  <a:srgbClr val="E4D5EE"/>
                </a:solidFill>
                <a:latin typeface="Arial" panose="020B0604020202020204" pitchFamily="34" charset="0"/>
              </a:rPr>
              <a:t>Take-home: </a:t>
            </a:r>
            <a:r>
              <a:rPr lang="en-GB" sz="1400">
                <a:solidFill>
                  <a:srgbClr val="FFFFFF"/>
                </a:solidFill>
                <a:latin typeface="Arial" panose="020B0604020202020204" pitchFamily="34" charset="0"/>
              </a:rPr>
              <a:t>network structure, not just average partner numbers, shapes STI projections and intervention decisions.</a:t>
            </a:r>
          </a:p>
        </p:txBody>
      </p:sp>
      <p:sp>
        <p:nvSpPr>
          <p:cNvPr id="67" name="Footer">
            <a:extLst>
              <a:ext uri="{FF2B5EF4-FFF2-40B4-BE49-F238E27FC236}">
                <a16:creationId xmlns:a16="http://schemas.microsoft.com/office/drawing/2014/main" id="{D620AAE7-4314-C4B5-B956-AC424E4B0CEC}"/>
              </a:ext>
            </a:extLst>
          </p:cNvPr>
          <p:cNvSpPr txBox="1"/>
          <p:nvPr/>
        </p:nvSpPr>
        <p:spPr>
          <a:xfrm>
            <a:off x="304800" y="4800600"/>
            <a:ext cx="1219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6E6378"/>
                </a:solidFill>
                <a:latin typeface="Arial" panose="020B0604020202020204" pitchFamily="34" charset="0"/>
              </a:rPr>
              <a:t>Yu R, et al.  ·  [Journal], [Year]  ·  doi:[10.xxxx/xxxxx]</a:t>
            </a:r>
          </a:p>
        </p:txBody>
      </p:sp>
    </p:spTree>
    <p:extLst>
      <p:ext uri="{BB962C8B-B14F-4D97-AF65-F5344CB8AC3E}">
        <p14:creationId xmlns:p14="http://schemas.microsoft.com/office/powerpoint/2010/main" val="260034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>
            <a:extLst>
              <a:ext uri="{FF2B5EF4-FFF2-40B4-BE49-F238E27FC236}">
                <a16:creationId xmlns:a16="http://schemas.microsoft.com/office/drawing/2014/main" id="{65621507-74FB-C9C7-0939-17239F657EEF}"/>
              </a:ext>
            </a:extLst>
          </p:cNvPr>
          <p:cNvSpPr/>
          <p:nvPr/>
        </p:nvSpPr>
        <p:spPr>
          <a:xfrm>
            <a:off x="0" y="0"/>
            <a:ext cx="12801600" cy="685800"/>
          </a:xfrm>
          <a:prstGeom prst="rect">
            <a:avLst/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3C1C796-DE53-ED50-DD10-E81C9153852B}"/>
              </a:ext>
            </a:extLst>
          </p:cNvPr>
          <p:cNvSpPr txBox="1"/>
          <p:nvPr/>
        </p:nvSpPr>
        <p:spPr>
          <a:xfrm>
            <a:off x="304800" y="0"/>
            <a:ext cx="11404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2400" b="1">
                <a:solidFill>
                  <a:srgbClr val="FFFFFF"/>
                </a:solidFill>
                <a:latin typeface="Arial" panose="020B0604020202020204" pitchFamily="34" charset="0"/>
              </a:rPr>
              <a:t>Importance of Network Structure in ABMs of STIs: an HPVsim Study</a:t>
            </a:r>
          </a:p>
        </p:txBody>
      </p:sp>
      <p:pic>
        <p:nvPicPr>
          <p:cNvPr id="5" name="University of Oxford logo">
            <a:extLst>
              <a:ext uri="{FF2B5EF4-FFF2-40B4-BE49-F238E27FC236}">
                <a16:creationId xmlns:a16="http://schemas.microsoft.com/office/drawing/2014/main" id="{8DC529C1-439D-C704-BF61-954478230C5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600" y="50800"/>
            <a:ext cx="584200" cy="584200"/>
          </a:xfrm>
          <a:prstGeom prst="rect">
            <a:avLst/>
          </a:prstGeom>
        </p:spPr>
      </p:pic>
      <p:sp>
        <p:nvSpPr>
          <p:cNvPr id="6" name="Methods column">
            <a:extLst>
              <a:ext uri="{FF2B5EF4-FFF2-40B4-BE49-F238E27FC236}">
                <a16:creationId xmlns:a16="http://schemas.microsoft.com/office/drawing/2014/main" id="{C5D8FB96-87F1-348B-CA9C-2A3A12C33838}"/>
              </a:ext>
            </a:extLst>
          </p:cNvPr>
          <p:cNvSpPr/>
          <p:nvPr/>
        </p:nvSpPr>
        <p:spPr>
          <a:xfrm>
            <a:off x="0" y="685800"/>
            <a:ext cx="3225800" cy="3657600"/>
          </a:xfrm>
          <a:prstGeom prst="rect">
            <a:avLst/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Methods heading">
            <a:extLst>
              <a:ext uri="{FF2B5EF4-FFF2-40B4-BE49-F238E27FC236}">
                <a16:creationId xmlns:a16="http://schemas.microsoft.com/office/drawing/2014/main" id="{E9AB6C30-3C74-D8FA-A5BD-213976D34CB4}"/>
              </a:ext>
            </a:extLst>
          </p:cNvPr>
          <p:cNvSpPr txBox="1"/>
          <p:nvPr/>
        </p:nvSpPr>
        <p:spPr>
          <a:xfrm>
            <a:off x="304800" y="838200"/>
            <a:ext cx="2616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600" b="1">
                <a:solidFill>
                  <a:srgbClr val="773F9B"/>
                </a:solidFill>
                <a:latin typeface="Arial" panose="020B0604020202020204" pitchFamily="34" charset="0"/>
              </a:rPr>
              <a:t>Methods</a:t>
            </a:r>
          </a:p>
        </p:txBody>
      </p:sp>
      <p:pic>
        <p:nvPicPr>
          <p:cNvPr id="9" name="Methods icon 1">
            <a:extLst>
              <a:ext uri="{FF2B5EF4-FFF2-40B4-BE49-F238E27FC236}">
                <a16:creationId xmlns:a16="http://schemas.microsoft.com/office/drawing/2014/main" id="{F67B9C8D-0092-8988-66B1-033BE20FDEC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1346200"/>
            <a:ext cx="482600" cy="482600"/>
          </a:xfrm>
          <a:prstGeom prst="rect">
            <a:avLst/>
          </a:prstGeom>
        </p:spPr>
      </p:pic>
      <p:sp>
        <p:nvSpPr>
          <p:cNvPr id="10" name="Methods text 1">
            <a:extLst>
              <a:ext uri="{FF2B5EF4-FFF2-40B4-BE49-F238E27FC236}">
                <a16:creationId xmlns:a16="http://schemas.microsoft.com/office/drawing/2014/main" id="{830B3198-807F-0DAC-CE48-B8F02511256A}"/>
              </a:ext>
            </a:extLst>
          </p:cNvPr>
          <p:cNvSpPr txBox="1"/>
          <p:nvPr/>
        </p:nvSpPr>
        <p:spPr>
          <a:xfrm>
            <a:off x="939800" y="1244600"/>
            <a:ext cx="2133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250" b="1">
                <a:solidFill>
                  <a:srgbClr val="2B2233"/>
                </a:solidFill>
                <a:latin typeface="Arial" panose="020B0604020202020204" pitchFamily="34" charset="0"/>
              </a:rPr>
              <a:t>HPVsim</a:t>
            </a:r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 agent-based model (ABM) with 100,000 agents</a:t>
            </a:r>
          </a:p>
        </p:txBody>
      </p:sp>
      <p:pic>
        <p:nvPicPr>
          <p:cNvPr id="12" name="Methods icon 2">
            <a:extLst>
              <a:ext uri="{FF2B5EF4-FFF2-40B4-BE49-F238E27FC236}">
                <a16:creationId xmlns:a16="http://schemas.microsoft.com/office/drawing/2014/main" id="{48286D27-BBAB-DC56-8895-D7275FB14E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2311400"/>
            <a:ext cx="482600" cy="482600"/>
          </a:xfrm>
          <a:prstGeom prst="rect">
            <a:avLst/>
          </a:prstGeom>
        </p:spPr>
      </p:pic>
      <p:sp>
        <p:nvSpPr>
          <p:cNvPr id="13" name="Methods text 2">
            <a:extLst>
              <a:ext uri="{FF2B5EF4-FFF2-40B4-BE49-F238E27FC236}">
                <a16:creationId xmlns:a16="http://schemas.microsoft.com/office/drawing/2014/main" id="{1E9DCB86-3223-26E5-0F04-7D0A69E9DDD7}"/>
              </a:ext>
            </a:extLst>
          </p:cNvPr>
          <p:cNvSpPr txBox="1"/>
          <p:nvPr/>
        </p:nvSpPr>
        <p:spPr>
          <a:xfrm>
            <a:off x="939800" y="2209800"/>
            <a:ext cx="2133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Partnership networks fitted to </a:t>
            </a:r>
            <a:r>
              <a:rPr lang="en-GB" sz="1250" b="1">
                <a:solidFill>
                  <a:srgbClr val="2B2233"/>
                </a:solidFill>
                <a:latin typeface="Arial" panose="020B0604020202020204" pitchFamily="34" charset="0"/>
              </a:rPr>
              <a:t>Natsal-3</a:t>
            </a:r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 (1.4 partners/year)</a:t>
            </a:r>
          </a:p>
        </p:txBody>
      </p:sp>
      <p:pic>
        <p:nvPicPr>
          <p:cNvPr id="15" name="Methods icon 3">
            <a:extLst>
              <a:ext uri="{FF2B5EF4-FFF2-40B4-BE49-F238E27FC236}">
                <a16:creationId xmlns:a16="http://schemas.microsoft.com/office/drawing/2014/main" id="{476120B7-7065-0728-CD9D-038EBB5A451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" y="3276600"/>
            <a:ext cx="482600" cy="482600"/>
          </a:xfrm>
          <a:prstGeom prst="rect">
            <a:avLst/>
          </a:prstGeom>
        </p:spPr>
      </p:pic>
      <p:sp>
        <p:nvSpPr>
          <p:cNvPr id="16" name="Methods text 3">
            <a:extLst>
              <a:ext uri="{FF2B5EF4-FFF2-40B4-BE49-F238E27FC236}">
                <a16:creationId xmlns:a16="http://schemas.microsoft.com/office/drawing/2014/main" id="{59B1D219-B577-F179-E08E-60039CC11F51}"/>
              </a:ext>
            </a:extLst>
          </p:cNvPr>
          <p:cNvSpPr txBox="1"/>
          <p:nvPr/>
        </p:nvSpPr>
        <p:spPr>
          <a:xfrm>
            <a:off x="939800" y="3175000"/>
            <a:ext cx="2133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250">
                <a:solidFill>
                  <a:srgbClr val="2B2233"/>
                </a:solidFill>
                <a:latin typeface="Arial" panose="020B0604020202020204" pitchFamily="34" charset="0"/>
              </a:rPr>
              <a:t>NHS cervical screening and HPV vaccination</a:t>
            </a:r>
          </a:p>
        </p:txBody>
      </p:sp>
      <p:sp>
        <p:nvSpPr>
          <p:cNvPr id="17" name="Networks heading">
            <a:extLst>
              <a:ext uri="{FF2B5EF4-FFF2-40B4-BE49-F238E27FC236}">
                <a16:creationId xmlns:a16="http://schemas.microsoft.com/office/drawing/2014/main" id="{EC183343-0F3A-62DE-E876-532465FAC9DC}"/>
              </a:ext>
            </a:extLst>
          </p:cNvPr>
          <p:cNvSpPr txBox="1"/>
          <p:nvPr/>
        </p:nvSpPr>
        <p:spPr>
          <a:xfrm>
            <a:off x="3429000" y="838200"/>
            <a:ext cx="4191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600" b="1">
                <a:solidFill>
                  <a:srgbClr val="773F9B"/>
                </a:solidFill>
                <a:latin typeface="Arial" panose="020B0604020202020204" pitchFamily="34" charset="0"/>
              </a:rPr>
              <a:t>Same mean, different spread</a:t>
            </a:r>
          </a:p>
        </p:txBody>
      </p:sp>
      <p:pic>
        <p:nvPicPr>
          <p:cNvPr id="19" name="Network Default">
            <a:extLst>
              <a:ext uri="{FF2B5EF4-FFF2-40B4-BE49-F238E27FC236}">
                <a16:creationId xmlns:a16="http://schemas.microsoft.com/office/drawing/2014/main" id="{C1A8F992-296B-A28E-C9BB-4235C66F927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44600"/>
            <a:ext cx="1270000" cy="1270000"/>
          </a:xfrm>
          <a:prstGeom prst="rect">
            <a:avLst/>
          </a:prstGeom>
        </p:spPr>
      </p:pic>
      <p:sp>
        <p:nvSpPr>
          <p:cNvPr id="20" name="Label Default">
            <a:extLst>
              <a:ext uri="{FF2B5EF4-FFF2-40B4-BE49-F238E27FC236}">
                <a16:creationId xmlns:a16="http://schemas.microsoft.com/office/drawing/2014/main" id="{8127093D-4A5E-3B85-05CA-9B102ECB89AC}"/>
              </a:ext>
            </a:extLst>
          </p:cNvPr>
          <p:cNvSpPr txBox="1"/>
          <p:nvPr/>
        </p:nvSpPr>
        <p:spPr>
          <a:xfrm>
            <a:off x="3302000" y="26162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400" b="1">
                <a:solidFill>
                  <a:srgbClr val="2B2233"/>
                </a:solidFill>
                <a:latin typeface="Arial" panose="020B0604020202020204" pitchFamily="34" charset="0"/>
              </a:rPr>
              <a:t>Default</a:t>
            </a:r>
          </a:p>
        </p:txBody>
      </p:sp>
      <p:sp>
        <p:nvSpPr>
          <p:cNvPr id="21" name="Sublabel Default">
            <a:extLst>
              <a:ext uri="{FF2B5EF4-FFF2-40B4-BE49-F238E27FC236}">
                <a16:creationId xmlns:a16="http://schemas.microsoft.com/office/drawing/2014/main" id="{11F6D038-91CB-CC6F-81A8-A1FCCE90FD2D}"/>
              </a:ext>
            </a:extLst>
          </p:cNvPr>
          <p:cNvSpPr txBox="1"/>
          <p:nvPr/>
        </p:nvSpPr>
        <p:spPr>
          <a:xfrm>
            <a:off x="3302000" y="2870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>
                <a:solidFill>
                  <a:srgbClr val="6E6378"/>
                </a:solidFill>
                <a:latin typeface="Arial" panose="020B0604020202020204" pitchFamily="34" charset="0"/>
              </a:rPr>
              <a:t>similar for all</a:t>
            </a:r>
          </a:p>
        </p:txBody>
      </p:sp>
      <p:pic>
        <p:nvPicPr>
          <p:cNvPr id="23" name="Network Gamma">
            <a:extLst>
              <a:ext uri="{FF2B5EF4-FFF2-40B4-BE49-F238E27FC236}">
                <a16:creationId xmlns:a16="http://schemas.microsoft.com/office/drawing/2014/main" id="{6405E617-B6B6-FF91-50E7-F8186BDFDE8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0" y="1244600"/>
            <a:ext cx="1270000" cy="1270000"/>
          </a:xfrm>
          <a:prstGeom prst="rect">
            <a:avLst/>
          </a:prstGeom>
        </p:spPr>
      </p:pic>
      <p:sp>
        <p:nvSpPr>
          <p:cNvPr id="24" name="Label Gamma">
            <a:extLst>
              <a:ext uri="{FF2B5EF4-FFF2-40B4-BE49-F238E27FC236}">
                <a16:creationId xmlns:a16="http://schemas.microsoft.com/office/drawing/2014/main" id="{ECD73210-6019-B024-0316-28882CBC88DD}"/>
              </a:ext>
            </a:extLst>
          </p:cNvPr>
          <p:cNvSpPr txBox="1"/>
          <p:nvPr/>
        </p:nvSpPr>
        <p:spPr>
          <a:xfrm>
            <a:off x="4762500" y="26162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400" b="1">
                <a:solidFill>
                  <a:srgbClr val="2B2233"/>
                </a:solidFill>
                <a:latin typeface="Arial" panose="020B0604020202020204" pitchFamily="34" charset="0"/>
              </a:rPr>
              <a:t>Gamma</a:t>
            </a:r>
          </a:p>
        </p:txBody>
      </p:sp>
      <p:sp>
        <p:nvSpPr>
          <p:cNvPr id="25" name="Sublabel Gamma">
            <a:extLst>
              <a:ext uri="{FF2B5EF4-FFF2-40B4-BE49-F238E27FC236}">
                <a16:creationId xmlns:a16="http://schemas.microsoft.com/office/drawing/2014/main" id="{349A6DA2-100F-0D14-9942-5559B518EBE7}"/>
              </a:ext>
            </a:extLst>
          </p:cNvPr>
          <p:cNvSpPr txBox="1"/>
          <p:nvPr/>
        </p:nvSpPr>
        <p:spPr>
          <a:xfrm>
            <a:off x="4762500" y="2870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>
                <a:solidFill>
                  <a:srgbClr val="6E6378"/>
                </a:solidFill>
                <a:latin typeface="Arial" panose="020B0604020202020204" pitchFamily="34" charset="0"/>
              </a:rPr>
              <a:t>some hubs</a:t>
            </a:r>
          </a:p>
        </p:txBody>
      </p:sp>
      <p:pic>
        <p:nvPicPr>
          <p:cNvPr id="27" name="Network Power law">
            <a:extLst>
              <a:ext uri="{FF2B5EF4-FFF2-40B4-BE49-F238E27FC236}">
                <a16:creationId xmlns:a16="http://schemas.microsoft.com/office/drawing/2014/main" id="{39F510A1-2D2A-D9C6-A4D2-33CCAB289FE9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244600"/>
            <a:ext cx="1270000" cy="1270000"/>
          </a:xfrm>
          <a:prstGeom prst="rect">
            <a:avLst/>
          </a:prstGeom>
        </p:spPr>
      </p:pic>
      <p:sp>
        <p:nvSpPr>
          <p:cNvPr id="28" name="Label Power law">
            <a:extLst>
              <a:ext uri="{FF2B5EF4-FFF2-40B4-BE49-F238E27FC236}">
                <a16:creationId xmlns:a16="http://schemas.microsoft.com/office/drawing/2014/main" id="{1948379D-6991-559B-D288-803ADCCD9325}"/>
              </a:ext>
            </a:extLst>
          </p:cNvPr>
          <p:cNvSpPr txBox="1"/>
          <p:nvPr/>
        </p:nvSpPr>
        <p:spPr>
          <a:xfrm>
            <a:off x="6223000" y="26162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400" b="1">
                <a:solidFill>
                  <a:srgbClr val="2B2233"/>
                </a:solidFill>
                <a:latin typeface="Arial" panose="020B0604020202020204" pitchFamily="34" charset="0"/>
              </a:rPr>
              <a:t>Power law</a:t>
            </a:r>
          </a:p>
        </p:txBody>
      </p:sp>
      <p:sp>
        <p:nvSpPr>
          <p:cNvPr id="29" name="Sublabel Power law">
            <a:extLst>
              <a:ext uri="{FF2B5EF4-FFF2-40B4-BE49-F238E27FC236}">
                <a16:creationId xmlns:a16="http://schemas.microsoft.com/office/drawing/2014/main" id="{A94FCAC7-D714-9F3E-7E95-92CD27D2ACD5}"/>
              </a:ext>
            </a:extLst>
          </p:cNvPr>
          <p:cNvSpPr txBox="1"/>
          <p:nvPr/>
        </p:nvSpPr>
        <p:spPr>
          <a:xfrm>
            <a:off x="6223000" y="2870200"/>
            <a:ext cx="1524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>
                <a:solidFill>
                  <a:srgbClr val="6E6378"/>
                </a:solidFill>
                <a:latin typeface="Arial" panose="020B0604020202020204" pitchFamily="34" charset="0"/>
              </a:rPr>
              <a:t>a few big hubs</a:t>
            </a:r>
          </a:p>
        </p:txBody>
      </p:sp>
      <p:cxnSp>
        <p:nvCxnSpPr>
          <p:cNvPr id="30" name="Heterogeneity arrow">
            <a:extLst>
              <a:ext uri="{FF2B5EF4-FFF2-40B4-BE49-F238E27FC236}">
                <a16:creationId xmlns:a16="http://schemas.microsoft.com/office/drawing/2014/main" id="{E23846E1-7DEC-9499-CB1B-037B2A74CD54}"/>
              </a:ext>
            </a:extLst>
          </p:cNvPr>
          <p:cNvCxnSpPr/>
          <p:nvPr/>
        </p:nvCxnSpPr>
        <p:spPr>
          <a:xfrm>
            <a:off x="3683000" y="3251200"/>
            <a:ext cx="3683000" cy="0"/>
          </a:xfrm>
          <a:prstGeom prst="line">
            <a:avLst/>
          </a:prstGeom>
          <a:ln w="22225">
            <a:solidFill>
              <a:srgbClr val="773F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Heterogeneity label">
            <a:extLst>
              <a:ext uri="{FF2B5EF4-FFF2-40B4-BE49-F238E27FC236}">
                <a16:creationId xmlns:a16="http://schemas.microsoft.com/office/drawing/2014/main" id="{CBED78FC-F318-002F-0199-8F1412857804}"/>
              </a:ext>
            </a:extLst>
          </p:cNvPr>
          <p:cNvSpPr txBox="1"/>
          <p:nvPr/>
        </p:nvSpPr>
        <p:spPr>
          <a:xfrm>
            <a:off x="3429000" y="3302000"/>
            <a:ext cx="419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 i="1">
                <a:solidFill>
                  <a:srgbClr val="6E6378"/>
                </a:solidFill>
                <a:latin typeface="Arial" panose="020B0604020202020204" pitchFamily="34" charset="0"/>
              </a:rPr>
              <a:t>increasing heterogeneity</a:t>
            </a:r>
          </a:p>
        </p:txBody>
      </p:sp>
      <p:sp>
        <p:nvSpPr>
          <p:cNvPr id="32" name="Network legend">
            <a:extLst>
              <a:ext uri="{FF2B5EF4-FFF2-40B4-BE49-F238E27FC236}">
                <a16:creationId xmlns:a16="http://schemas.microsoft.com/office/drawing/2014/main" id="{6E0EBE75-1CF8-42CD-A47C-0DF2AFD8F8C1}"/>
              </a:ext>
            </a:extLst>
          </p:cNvPr>
          <p:cNvSpPr txBox="1"/>
          <p:nvPr/>
        </p:nvSpPr>
        <p:spPr>
          <a:xfrm>
            <a:off x="3429000" y="3708400"/>
            <a:ext cx="419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100">
                <a:solidFill>
                  <a:srgbClr val="EB6834"/>
                </a:solidFill>
                <a:latin typeface="Arial" panose="020B0604020202020204" pitchFamily="34" charset="0"/>
              </a:rPr>
              <a:t>●</a:t>
            </a:r>
            <a:r>
              <a:rPr lang="en-GB" sz="1100">
                <a:solidFill>
                  <a:srgbClr val="2B2233"/>
                </a:solidFill>
                <a:latin typeface="Arial" panose="020B0604020202020204" pitchFamily="34" charset="0"/>
              </a:rPr>
              <a:t> women    </a:t>
            </a:r>
            <a:r>
              <a:rPr lang="en-GB" sz="1100">
                <a:solidFill>
                  <a:srgbClr val="2A78D6"/>
                </a:solidFill>
                <a:latin typeface="Arial" panose="020B0604020202020204" pitchFamily="34" charset="0"/>
              </a:rPr>
              <a:t>■</a:t>
            </a:r>
            <a:r>
              <a:rPr lang="en-GB" sz="1100">
                <a:solidFill>
                  <a:srgbClr val="2B2233"/>
                </a:solidFill>
                <a:latin typeface="Arial" panose="020B0604020202020204" pitchFamily="34" charset="0"/>
              </a:rPr>
              <a:t> men    node size = number of partners</a:t>
            </a:r>
          </a:p>
        </p:txBody>
      </p:sp>
      <p:sp>
        <p:nvSpPr>
          <p:cNvPr id="33" name="Findings backdrop">
            <a:extLst>
              <a:ext uri="{FF2B5EF4-FFF2-40B4-BE49-F238E27FC236}">
                <a16:creationId xmlns:a16="http://schemas.microsoft.com/office/drawing/2014/main" id="{40FAC21C-30EC-40F9-FACA-4ADDC05AA20F}"/>
              </a:ext>
            </a:extLst>
          </p:cNvPr>
          <p:cNvSpPr/>
          <p:nvPr/>
        </p:nvSpPr>
        <p:spPr>
          <a:xfrm>
            <a:off x="7721600" y="787400"/>
            <a:ext cx="48768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indings heading">
            <a:extLst>
              <a:ext uri="{FF2B5EF4-FFF2-40B4-BE49-F238E27FC236}">
                <a16:creationId xmlns:a16="http://schemas.microsoft.com/office/drawing/2014/main" id="{BFDCCF86-F15F-DF07-8837-C37F5DFB6685}"/>
              </a:ext>
            </a:extLst>
          </p:cNvPr>
          <p:cNvSpPr txBox="1"/>
          <p:nvPr/>
        </p:nvSpPr>
        <p:spPr>
          <a:xfrm>
            <a:off x="7874000" y="863600"/>
            <a:ext cx="4114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600" b="1">
                <a:solidFill>
                  <a:srgbClr val="773F9B"/>
                </a:solidFill>
                <a:latin typeface="Arial" panose="020B0604020202020204" pitchFamily="34" charset="0"/>
              </a:rPr>
              <a:t>Findings</a:t>
            </a:r>
          </a:p>
        </p:txBody>
      </p:sp>
      <p:pic>
        <p:nvPicPr>
          <p:cNvPr id="36" name="Icon cervical cancer">
            <a:extLst>
              <a:ext uri="{FF2B5EF4-FFF2-40B4-BE49-F238E27FC236}">
                <a16:creationId xmlns:a16="http://schemas.microsoft.com/office/drawing/2014/main" id="{59C92259-32BB-D1D8-52E3-A18CB6D6F1D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90400" y="838200"/>
            <a:ext cx="355600" cy="355600"/>
          </a:xfrm>
          <a:prstGeom prst="rect">
            <a:avLst/>
          </a:prstGeom>
        </p:spPr>
      </p:pic>
      <p:sp>
        <p:nvSpPr>
          <p:cNvPr id="37" name="Finding 1 card">
            <a:extLst>
              <a:ext uri="{FF2B5EF4-FFF2-40B4-BE49-F238E27FC236}">
                <a16:creationId xmlns:a16="http://schemas.microsoft.com/office/drawing/2014/main" id="{C6633523-6CB0-E873-9EA5-4F531C19C28A}"/>
              </a:ext>
            </a:extLst>
          </p:cNvPr>
          <p:cNvSpPr/>
          <p:nvPr/>
        </p:nvSpPr>
        <p:spPr>
          <a:xfrm>
            <a:off x="7823200" y="1244600"/>
            <a:ext cx="3022600" cy="2895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inding 1 heading">
            <a:extLst>
              <a:ext uri="{FF2B5EF4-FFF2-40B4-BE49-F238E27FC236}">
                <a16:creationId xmlns:a16="http://schemas.microsoft.com/office/drawing/2014/main" id="{0EA22FA1-757C-0BD8-41E4-E214F1052D2E}"/>
              </a:ext>
            </a:extLst>
          </p:cNvPr>
          <p:cNvSpPr txBox="1"/>
          <p:nvPr/>
        </p:nvSpPr>
        <p:spPr>
          <a:xfrm>
            <a:off x="7950200" y="1333500"/>
            <a:ext cx="2768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 b="1">
                <a:solidFill>
                  <a:srgbClr val="773F9B"/>
                </a:solidFill>
                <a:latin typeface="Arial" panose="020B0604020202020204" pitchFamily="34" charset="0"/>
              </a:rPr>
              <a:t>FINDING 1</a:t>
            </a:r>
          </a:p>
          <a:p>
            <a:r>
              <a:rPr lang="en-GB" sz="1100" b="1">
                <a:solidFill>
                  <a:srgbClr val="2B2233"/>
                </a:solidFill>
                <a:latin typeface="Arial" panose="020B0604020202020204" pitchFamily="34" charset="0"/>
              </a:rPr>
              <a:t>Cervical cancer per 100,000 women, 2040</a:t>
            </a:r>
          </a:p>
        </p:txBody>
      </p:sp>
      <p:graphicFrame>
        <p:nvGraphicFramePr>
          <p:cNvPr id="39" name="Cancer chart">
            <a:extLst>
              <a:ext uri="{FF2B5EF4-FFF2-40B4-BE49-F238E27FC236}">
                <a16:creationId xmlns:a16="http://schemas.microsoft.com/office/drawing/2014/main" id="{2AEC433A-3ECA-EF58-3894-997054743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5377227"/>
              </p:ext>
            </p:extLst>
          </p:nvPr>
        </p:nvGraphicFramePr>
        <p:xfrm>
          <a:off x="7874000" y="1752600"/>
          <a:ext cx="2921000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0" name="Finding 2 card">
            <a:extLst>
              <a:ext uri="{FF2B5EF4-FFF2-40B4-BE49-F238E27FC236}">
                <a16:creationId xmlns:a16="http://schemas.microsoft.com/office/drawing/2014/main" id="{2C19D53C-289D-D9FB-5765-81E2073BE6C6}"/>
              </a:ext>
            </a:extLst>
          </p:cNvPr>
          <p:cNvSpPr/>
          <p:nvPr/>
        </p:nvSpPr>
        <p:spPr>
          <a:xfrm>
            <a:off x="10947400" y="1244600"/>
            <a:ext cx="1549400" cy="2895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inding 2 heading">
            <a:extLst>
              <a:ext uri="{FF2B5EF4-FFF2-40B4-BE49-F238E27FC236}">
                <a16:creationId xmlns:a16="http://schemas.microsoft.com/office/drawing/2014/main" id="{BB697ABE-E88E-F024-A049-5857598CB062}"/>
              </a:ext>
            </a:extLst>
          </p:cNvPr>
          <p:cNvSpPr txBox="1"/>
          <p:nvPr/>
        </p:nvSpPr>
        <p:spPr>
          <a:xfrm>
            <a:off x="11074400" y="1333500"/>
            <a:ext cx="1295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 b="1">
                <a:solidFill>
                  <a:srgbClr val="773F9B"/>
                </a:solidFill>
                <a:latin typeface="Arial" panose="020B0604020202020204" pitchFamily="34" charset="0"/>
              </a:rPr>
              <a:t>FINDING 2</a:t>
            </a:r>
          </a:p>
          <a:p>
            <a:r>
              <a:rPr lang="en-GB" sz="1100" b="1">
                <a:solidFill>
                  <a:srgbClr val="2B2233"/>
                </a:solidFill>
                <a:latin typeface="Arial" panose="020B0604020202020204" pitchFamily="34" charset="0"/>
              </a:rPr>
              <a:t>Change vs default</a:t>
            </a:r>
          </a:p>
        </p:txBody>
      </p:sp>
      <p:sp>
        <p:nvSpPr>
          <p:cNvPr id="42" name="Stat 1">
            <a:extLst>
              <a:ext uri="{FF2B5EF4-FFF2-40B4-BE49-F238E27FC236}">
                <a16:creationId xmlns:a16="http://schemas.microsoft.com/office/drawing/2014/main" id="{09EE530A-1E6A-2541-C7EB-88CF945DC0DC}"/>
              </a:ext>
            </a:extLst>
          </p:cNvPr>
          <p:cNvSpPr txBox="1"/>
          <p:nvPr/>
        </p:nvSpPr>
        <p:spPr>
          <a:xfrm>
            <a:off x="11074400" y="1803400"/>
            <a:ext cx="1295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000" b="1">
                <a:solidFill>
                  <a:srgbClr val="773F9B"/>
                </a:solidFill>
                <a:latin typeface="Arial" panose="020B0604020202020204" pitchFamily="34" charset="0"/>
              </a:rPr>
              <a:t>+96%</a:t>
            </a:r>
          </a:p>
        </p:txBody>
      </p:sp>
      <p:sp>
        <p:nvSpPr>
          <p:cNvPr id="43" name="Stat 1 network">
            <a:extLst>
              <a:ext uri="{FF2B5EF4-FFF2-40B4-BE49-F238E27FC236}">
                <a16:creationId xmlns:a16="http://schemas.microsoft.com/office/drawing/2014/main" id="{42AD331C-6280-AE95-7CDD-F66EDA1D0D65}"/>
              </a:ext>
            </a:extLst>
          </p:cNvPr>
          <p:cNvSpPr txBox="1"/>
          <p:nvPr/>
        </p:nvSpPr>
        <p:spPr>
          <a:xfrm>
            <a:off x="11074400" y="2260600"/>
            <a:ext cx="1295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Gamma</a:t>
            </a:r>
          </a:p>
        </p:txBody>
      </p:sp>
      <p:sp>
        <p:nvSpPr>
          <p:cNvPr id="44" name="Stat 2">
            <a:extLst>
              <a:ext uri="{FF2B5EF4-FFF2-40B4-BE49-F238E27FC236}">
                <a16:creationId xmlns:a16="http://schemas.microsoft.com/office/drawing/2014/main" id="{1F8408C7-532A-0541-C0B8-E2D95083AD03}"/>
              </a:ext>
            </a:extLst>
          </p:cNvPr>
          <p:cNvSpPr txBox="1"/>
          <p:nvPr/>
        </p:nvSpPr>
        <p:spPr>
          <a:xfrm>
            <a:off x="11074400" y="2844800"/>
            <a:ext cx="1295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000" b="1">
                <a:solidFill>
                  <a:srgbClr val="773F9B"/>
                </a:solidFill>
                <a:latin typeface="Arial" panose="020B0604020202020204" pitchFamily="34" charset="0"/>
              </a:rPr>
              <a:t>+30%</a:t>
            </a:r>
          </a:p>
        </p:txBody>
      </p:sp>
      <p:sp>
        <p:nvSpPr>
          <p:cNvPr id="45" name="Stat 2 network">
            <a:extLst>
              <a:ext uri="{FF2B5EF4-FFF2-40B4-BE49-F238E27FC236}">
                <a16:creationId xmlns:a16="http://schemas.microsoft.com/office/drawing/2014/main" id="{46210D51-2B4D-F246-33D4-A77EC5C06314}"/>
              </a:ext>
            </a:extLst>
          </p:cNvPr>
          <p:cNvSpPr txBox="1"/>
          <p:nvPr/>
        </p:nvSpPr>
        <p:spPr>
          <a:xfrm>
            <a:off x="11074400" y="3302000"/>
            <a:ext cx="1295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2B2233"/>
                </a:solidFill>
                <a:latin typeface="Arial" panose="020B0604020202020204" pitchFamily="34" charset="0"/>
              </a:rPr>
              <a:t>Power law</a:t>
            </a:r>
          </a:p>
        </p:txBody>
      </p:sp>
      <p:sp>
        <p:nvSpPr>
          <p:cNvPr id="46" name="Stats footnote">
            <a:extLst>
              <a:ext uri="{FF2B5EF4-FFF2-40B4-BE49-F238E27FC236}">
                <a16:creationId xmlns:a16="http://schemas.microsoft.com/office/drawing/2014/main" id="{714D27A2-4CD9-E33B-D406-E0BB94F9F82A}"/>
              </a:ext>
            </a:extLst>
          </p:cNvPr>
          <p:cNvSpPr txBox="1"/>
          <p:nvPr/>
        </p:nvSpPr>
        <p:spPr>
          <a:xfrm>
            <a:off x="11074400" y="3860800"/>
            <a:ext cx="1295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50">
                <a:solidFill>
                  <a:srgbClr val="6E6378"/>
                </a:solidFill>
                <a:latin typeface="Arial" panose="020B0604020202020204" pitchFamily="34" charset="0"/>
              </a:rPr>
              <a:t>2040 medians, 50 runs</a:t>
            </a:r>
          </a:p>
        </p:txBody>
      </p:sp>
      <p:sp>
        <p:nvSpPr>
          <p:cNvPr id="47" name="Conclusion band">
            <a:extLst>
              <a:ext uri="{FF2B5EF4-FFF2-40B4-BE49-F238E27FC236}">
                <a16:creationId xmlns:a16="http://schemas.microsoft.com/office/drawing/2014/main" id="{EEC9B057-FFAD-E57A-71AF-21118A018601}"/>
              </a:ext>
            </a:extLst>
          </p:cNvPr>
          <p:cNvSpPr/>
          <p:nvPr/>
        </p:nvSpPr>
        <p:spPr>
          <a:xfrm>
            <a:off x="0" y="4343400"/>
            <a:ext cx="12801600" cy="777240"/>
          </a:xfrm>
          <a:prstGeom prst="rect">
            <a:avLst/>
          </a:prstGeom>
          <a:solidFill>
            <a:srgbClr val="773F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Conclusion text">
            <a:extLst>
              <a:ext uri="{FF2B5EF4-FFF2-40B4-BE49-F238E27FC236}">
                <a16:creationId xmlns:a16="http://schemas.microsoft.com/office/drawing/2014/main" id="{43496DAC-CB1A-4948-07A2-8DDECA15E39F}"/>
              </a:ext>
            </a:extLst>
          </p:cNvPr>
          <p:cNvSpPr txBox="1"/>
          <p:nvPr/>
        </p:nvSpPr>
        <p:spPr>
          <a:xfrm>
            <a:off x="304800" y="4343400"/>
            <a:ext cx="8128000" cy="7772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 b="1">
                <a:solidFill>
                  <a:srgbClr val="E4D5EE"/>
                </a:solidFill>
                <a:latin typeface="Arial" panose="020B0604020202020204" pitchFamily="34" charset="0"/>
              </a:rPr>
              <a:t>Conclusion: </a:t>
            </a:r>
            <a:r>
              <a:rPr lang="en-GB" sz="1300">
                <a:solidFill>
                  <a:srgbClr val="FFFFFF"/>
                </a:solidFill>
                <a:latin typeface="Arial" panose="020B0604020202020204" pitchFamily="34" charset="0"/>
              </a:rPr>
              <a:t>STI models that assume homogeneous partnership networks can misjudge disease burden and intervention impact; fit network structure to behavioural data.</a:t>
            </a:r>
          </a:p>
        </p:txBody>
      </p:sp>
      <p:sp>
        <p:nvSpPr>
          <p:cNvPr id="49" name="Reference">
            <a:extLst>
              <a:ext uri="{FF2B5EF4-FFF2-40B4-BE49-F238E27FC236}">
                <a16:creationId xmlns:a16="http://schemas.microsoft.com/office/drawing/2014/main" id="{0959606A-69E0-71CF-AC7B-AC7362A5E2F0}"/>
              </a:ext>
            </a:extLst>
          </p:cNvPr>
          <p:cNvSpPr txBox="1"/>
          <p:nvPr/>
        </p:nvSpPr>
        <p:spPr>
          <a:xfrm>
            <a:off x="8890000" y="4343400"/>
            <a:ext cx="3606800" cy="7772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GB" sz="1000">
                <a:solidFill>
                  <a:srgbClr val="E4D5EE"/>
                </a:solidFill>
                <a:latin typeface="Arial" panose="020B0604020202020204" pitchFamily="34" charset="0"/>
              </a:rPr>
              <a:t>Yu R, et al.  [Journal], [Year]</a:t>
            </a:r>
          </a:p>
          <a:p>
            <a:pPr algn="r"/>
            <a:r>
              <a:rPr lang="en-GB" sz="1000">
                <a:solidFill>
                  <a:srgbClr val="E4D5EE"/>
                </a:solidFill>
                <a:latin typeface="Arial" panose="020B0604020202020204" pitchFamily="34" charset="0"/>
              </a:rPr>
              <a:t>doi:[10.xxxx/xxxxx]</a:t>
            </a:r>
          </a:p>
        </p:txBody>
      </p:sp>
    </p:spTree>
    <p:extLst>
      <p:ext uri="{BB962C8B-B14F-4D97-AF65-F5344CB8AC3E}">
        <p14:creationId xmlns:p14="http://schemas.microsoft.com/office/powerpoint/2010/main" val="203933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08BB28D-C149-02A5-97B8-873E15D0823E}"/>
              </a:ext>
            </a:extLst>
          </p:cNvPr>
          <p:cNvSpPr txBox="1"/>
          <p:nvPr/>
        </p:nvSpPr>
        <p:spPr>
          <a:xfrm>
            <a:off x="304800" y="101600"/>
            <a:ext cx="114046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2400" b="1">
                <a:solidFill>
                  <a:srgbClr val="773F9B"/>
                </a:solidFill>
                <a:latin typeface="Arial" panose="020B0604020202020204" pitchFamily="34" charset="0"/>
              </a:rPr>
              <a:t>[Title: one line, Arial 24 pt]</a:t>
            </a:r>
          </a:p>
        </p:txBody>
      </p:sp>
      <p:pic>
        <p:nvPicPr>
          <p:cNvPr id="4" name="University of Oxford logo">
            <a:extLst>
              <a:ext uri="{FF2B5EF4-FFF2-40B4-BE49-F238E27FC236}">
                <a16:creationId xmlns:a16="http://schemas.microsoft.com/office/drawing/2014/main" id="{8F97B311-5443-D5AF-BEFD-EDA398CE5B6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2600" y="76200"/>
            <a:ext cx="584200" cy="584200"/>
          </a:xfrm>
          <a:prstGeom prst="rect">
            <a:avLst/>
          </a:prstGeom>
        </p:spPr>
      </p:pic>
      <p:sp>
        <p:nvSpPr>
          <p:cNvPr id="5" name="Panel 1">
            <a:extLst>
              <a:ext uri="{FF2B5EF4-FFF2-40B4-BE49-F238E27FC236}">
                <a16:creationId xmlns:a16="http://schemas.microsoft.com/office/drawing/2014/main" id="{26F14B1B-8877-EC81-5F02-70E793814379}"/>
              </a:ext>
            </a:extLst>
          </p:cNvPr>
          <p:cNvSpPr/>
          <p:nvPr/>
        </p:nvSpPr>
        <p:spPr>
          <a:xfrm>
            <a:off x="304800" y="736600"/>
            <a:ext cx="29464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anel 1 heading">
            <a:extLst>
              <a:ext uri="{FF2B5EF4-FFF2-40B4-BE49-F238E27FC236}">
                <a16:creationId xmlns:a16="http://schemas.microsoft.com/office/drawing/2014/main" id="{D6DBC196-92A4-E49B-D2F5-D570DB8CF0EA}"/>
              </a:ext>
            </a:extLst>
          </p:cNvPr>
          <p:cNvSpPr/>
          <p:nvPr/>
        </p:nvSpPr>
        <p:spPr>
          <a:xfrm>
            <a:off x="457200" y="863600"/>
            <a:ext cx="1369170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1  Context</a:t>
            </a:r>
          </a:p>
        </p:txBody>
      </p:sp>
      <p:sp>
        <p:nvSpPr>
          <p:cNvPr id="7" name="Panel 2">
            <a:extLst>
              <a:ext uri="{FF2B5EF4-FFF2-40B4-BE49-F238E27FC236}">
                <a16:creationId xmlns:a16="http://schemas.microsoft.com/office/drawing/2014/main" id="{6C139062-82D8-BDD3-251B-6558146D897F}"/>
              </a:ext>
            </a:extLst>
          </p:cNvPr>
          <p:cNvSpPr/>
          <p:nvPr/>
        </p:nvSpPr>
        <p:spPr>
          <a:xfrm>
            <a:off x="3536950" y="736600"/>
            <a:ext cx="36576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anel 2 heading">
            <a:extLst>
              <a:ext uri="{FF2B5EF4-FFF2-40B4-BE49-F238E27FC236}">
                <a16:creationId xmlns:a16="http://schemas.microsoft.com/office/drawing/2014/main" id="{A989D019-6CA8-416F-C97B-793834DEB7DA}"/>
              </a:ext>
            </a:extLst>
          </p:cNvPr>
          <p:cNvSpPr/>
          <p:nvPr/>
        </p:nvSpPr>
        <p:spPr>
          <a:xfrm>
            <a:off x="3689350" y="863600"/>
            <a:ext cx="1331925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2  Method</a:t>
            </a:r>
          </a:p>
        </p:txBody>
      </p:sp>
      <p:sp>
        <p:nvSpPr>
          <p:cNvPr id="9" name="Panel 3">
            <a:extLst>
              <a:ext uri="{FF2B5EF4-FFF2-40B4-BE49-F238E27FC236}">
                <a16:creationId xmlns:a16="http://schemas.microsoft.com/office/drawing/2014/main" id="{4F2B0341-AF62-BBEA-CE68-A1B9E3948339}"/>
              </a:ext>
            </a:extLst>
          </p:cNvPr>
          <p:cNvSpPr/>
          <p:nvPr/>
        </p:nvSpPr>
        <p:spPr>
          <a:xfrm>
            <a:off x="7480300" y="736600"/>
            <a:ext cx="5016500" cy="3454400"/>
          </a:xfrm>
          <a:prstGeom prst="roundRect">
            <a:avLst>
              <a:gd name="adj" fmla="val 4000"/>
            </a:avLst>
          </a:prstGeom>
          <a:solidFill>
            <a:srgbClr val="F3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anel 3 heading">
            <a:extLst>
              <a:ext uri="{FF2B5EF4-FFF2-40B4-BE49-F238E27FC236}">
                <a16:creationId xmlns:a16="http://schemas.microsoft.com/office/drawing/2014/main" id="{9246B215-E2CE-C2C5-B31A-93E099109B1F}"/>
              </a:ext>
            </a:extLst>
          </p:cNvPr>
          <p:cNvSpPr/>
          <p:nvPr/>
        </p:nvSpPr>
        <p:spPr>
          <a:xfrm>
            <a:off x="7632700" y="863600"/>
            <a:ext cx="1446861" cy="355600"/>
          </a:xfrm>
          <a:prstGeom prst="roundRect">
            <a:avLst>
              <a:gd name="adj" fmla="val 50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52400" tIns="50800" rIns="152400" bIns="50800" rtlCol="0" anchor="ctr">
            <a:noAutofit/>
          </a:bodyPr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rial" panose="020B0604020202020204" pitchFamily="34" charset="0"/>
              </a:rPr>
              <a:t>3  Findings</a:t>
            </a:r>
          </a:p>
        </p:txBody>
      </p:sp>
      <p:sp>
        <p:nvSpPr>
          <p:cNvPr id="11" name="Arrow 1">
            <a:extLst>
              <a:ext uri="{FF2B5EF4-FFF2-40B4-BE49-F238E27FC236}">
                <a16:creationId xmlns:a16="http://schemas.microsoft.com/office/drawing/2014/main" id="{D0AC2DDC-9667-0432-8935-1AF96B671698}"/>
              </a:ext>
            </a:extLst>
          </p:cNvPr>
          <p:cNvSpPr/>
          <p:nvPr/>
        </p:nvSpPr>
        <p:spPr>
          <a:xfrm>
            <a:off x="3317875" y="2298700"/>
            <a:ext cx="152400" cy="330200"/>
          </a:xfrm>
          <a:prstGeom prst="chevron">
            <a:avLst>
              <a:gd name="adj" fmla="val 55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Arrow 2">
            <a:extLst>
              <a:ext uri="{FF2B5EF4-FFF2-40B4-BE49-F238E27FC236}">
                <a16:creationId xmlns:a16="http://schemas.microsoft.com/office/drawing/2014/main" id="{3ADD52E1-3AB6-AAA5-F216-C193729DC9BA}"/>
              </a:ext>
            </a:extLst>
          </p:cNvPr>
          <p:cNvSpPr/>
          <p:nvPr/>
        </p:nvSpPr>
        <p:spPr>
          <a:xfrm>
            <a:off x="7261225" y="2298700"/>
            <a:ext cx="152400" cy="330200"/>
          </a:xfrm>
          <a:prstGeom prst="chevron">
            <a:avLst>
              <a:gd name="adj" fmla="val 55000"/>
            </a:avLst>
          </a:prstGeom>
          <a:solidFill>
            <a:srgbClr val="AF82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Image placeholder 1">
            <a:extLst>
              <a:ext uri="{FF2B5EF4-FFF2-40B4-BE49-F238E27FC236}">
                <a16:creationId xmlns:a16="http://schemas.microsoft.com/office/drawing/2014/main" id="{1E969585-E25F-A2D4-768F-F12A9999CEA6}"/>
              </a:ext>
            </a:extLst>
          </p:cNvPr>
          <p:cNvSpPr/>
          <p:nvPr/>
        </p:nvSpPr>
        <p:spPr>
          <a:xfrm>
            <a:off x="508000" y="1371600"/>
            <a:ext cx="2540000" cy="19050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AF82CC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i="1">
                <a:solidFill>
                  <a:srgbClr val="6E6378"/>
                </a:solidFill>
                <a:latin typeface="Arial" panose="020B0604020202020204" pitchFamily="34" charset="0"/>
              </a:rPr>
              <a:t>[icon, network or diagram]</a:t>
            </a:r>
          </a:p>
        </p:txBody>
      </p:sp>
      <p:sp>
        <p:nvSpPr>
          <p:cNvPr id="14" name="Panel 1 text">
            <a:extLst>
              <a:ext uri="{FF2B5EF4-FFF2-40B4-BE49-F238E27FC236}">
                <a16:creationId xmlns:a16="http://schemas.microsoft.com/office/drawing/2014/main" id="{CC46A82C-29AA-0FA9-62F1-3D7CCAA4061D}"/>
              </a:ext>
            </a:extLst>
          </p:cNvPr>
          <p:cNvSpPr txBox="1"/>
          <p:nvPr/>
        </p:nvSpPr>
        <p:spPr>
          <a:xfrm>
            <a:off x="508000" y="3429000"/>
            <a:ext cx="254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[Introduce the context of your research]</a:t>
            </a:r>
          </a:p>
        </p:txBody>
      </p:sp>
      <p:sp>
        <p:nvSpPr>
          <p:cNvPr id="15" name="Image placeholder 2">
            <a:extLst>
              <a:ext uri="{FF2B5EF4-FFF2-40B4-BE49-F238E27FC236}">
                <a16:creationId xmlns:a16="http://schemas.microsoft.com/office/drawing/2014/main" id="{D7EDDCD6-C4A4-6AEE-F32E-33A407F2D078}"/>
              </a:ext>
            </a:extLst>
          </p:cNvPr>
          <p:cNvSpPr/>
          <p:nvPr/>
        </p:nvSpPr>
        <p:spPr>
          <a:xfrm>
            <a:off x="3740150" y="1371600"/>
            <a:ext cx="3251200" cy="19050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AF82CC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i="1">
                <a:solidFill>
                  <a:srgbClr val="6E6378"/>
                </a:solidFill>
                <a:latin typeface="Arial" panose="020B0604020202020204" pitchFamily="34" charset="0"/>
              </a:rPr>
              <a:t>[icon, network or diagram]</a:t>
            </a:r>
          </a:p>
        </p:txBody>
      </p:sp>
      <p:sp>
        <p:nvSpPr>
          <p:cNvPr id="16" name="Panel 2 text">
            <a:extLst>
              <a:ext uri="{FF2B5EF4-FFF2-40B4-BE49-F238E27FC236}">
                <a16:creationId xmlns:a16="http://schemas.microsoft.com/office/drawing/2014/main" id="{7899CF26-C792-59A1-4113-02ACAD031F30}"/>
              </a:ext>
            </a:extLst>
          </p:cNvPr>
          <p:cNvSpPr txBox="1"/>
          <p:nvPr/>
        </p:nvSpPr>
        <p:spPr>
          <a:xfrm>
            <a:off x="3740150" y="3429000"/>
            <a:ext cx="3251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[Showcase your methodology]</a:t>
            </a:r>
          </a:p>
        </p:txBody>
      </p:sp>
      <p:sp>
        <p:nvSpPr>
          <p:cNvPr id="17" name="Panel 3 text">
            <a:extLst>
              <a:ext uri="{FF2B5EF4-FFF2-40B4-BE49-F238E27FC236}">
                <a16:creationId xmlns:a16="http://schemas.microsoft.com/office/drawing/2014/main" id="{DD99BE92-55DA-168E-A896-E426C9285390}"/>
              </a:ext>
            </a:extLst>
          </p:cNvPr>
          <p:cNvSpPr txBox="1"/>
          <p:nvPr/>
        </p:nvSpPr>
        <p:spPr>
          <a:xfrm>
            <a:off x="7683500" y="3733800"/>
            <a:ext cx="46101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>
                <a:solidFill>
                  <a:srgbClr val="2B2233"/>
                </a:solidFill>
                <a:latin typeface="Arial" panose="020B0604020202020204" pitchFamily="34" charset="0"/>
              </a:rPr>
              <a:t>[One-line summary of the two findings]</a:t>
            </a:r>
          </a:p>
        </p:txBody>
      </p:sp>
      <p:sp>
        <p:nvSpPr>
          <p:cNvPr id="18" name="Finding 1 placeholder">
            <a:extLst>
              <a:ext uri="{FF2B5EF4-FFF2-40B4-BE49-F238E27FC236}">
                <a16:creationId xmlns:a16="http://schemas.microsoft.com/office/drawing/2014/main" id="{1E0A95B5-62BA-E9AB-E1F6-F912E2B97035}"/>
              </a:ext>
            </a:extLst>
          </p:cNvPr>
          <p:cNvSpPr/>
          <p:nvPr/>
        </p:nvSpPr>
        <p:spPr>
          <a:xfrm>
            <a:off x="7632700" y="1320800"/>
            <a:ext cx="3060700" cy="23368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AF82CC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i="1">
                <a:solidFill>
                  <a:srgbClr val="6E6378"/>
                </a:solidFill>
                <a:latin typeface="Arial" panose="020B0604020202020204" pitchFamily="34" charset="0"/>
              </a:rPr>
              <a:t>[Finding 1: graphical comparison]</a:t>
            </a:r>
          </a:p>
        </p:txBody>
      </p:sp>
      <p:sp>
        <p:nvSpPr>
          <p:cNvPr id="19" name="Finding 2 placeholder">
            <a:extLst>
              <a:ext uri="{FF2B5EF4-FFF2-40B4-BE49-F238E27FC236}">
                <a16:creationId xmlns:a16="http://schemas.microsoft.com/office/drawing/2014/main" id="{22FAA963-6FA0-AE4B-9B38-5682A62812A9}"/>
              </a:ext>
            </a:extLst>
          </p:cNvPr>
          <p:cNvSpPr/>
          <p:nvPr/>
        </p:nvSpPr>
        <p:spPr>
          <a:xfrm>
            <a:off x="10795000" y="1320800"/>
            <a:ext cx="1549400" cy="2336800"/>
          </a:xfrm>
          <a:prstGeom prst="roundRect">
            <a:avLst>
              <a:gd name="adj" fmla="val 6000"/>
            </a:avLst>
          </a:prstGeom>
          <a:noFill/>
          <a:ln w="15875" cap="flat" cmpd="sng" algn="ctr">
            <a:solidFill>
              <a:srgbClr val="AF82CC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i="1">
                <a:solidFill>
                  <a:srgbClr val="6E6378"/>
                </a:solidFill>
                <a:latin typeface="Arial" panose="020B0604020202020204" pitchFamily="34" charset="0"/>
              </a:rPr>
              <a:t>[Finding 2: key statistics]</a:t>
            </a:r>
          </a:p>
        </p:txBody>
      </p:sp>
      <p:sp>
        <p:nvSpPr>
          <p:cNvPr id="20" name="Conclusion band">
            <a:extLst>
              <a:ext uri="{FF2B5EF4-FFF2-40B4-BE49-F238E27FC236}">
                <a16:creationId xmlns:a16="http://schemas.microsoft.com/office/drawing/2014/main" id="{A6F1655A-145C-80DA-91A4-295D4DC3AACD}"/>
              </a:ext>
            </a:extLst>
          </p:cNvPr>
          <p:cNvSpPr/>
          <p:nvPr/>
        </p:nvSpPr>
        <p:spPr>
          <a:xfrm>
            <a:off x="304800" y="4292600"/>
            <a:ext cx="12192000" cy="431800"/>
          </a:xfrm>
          <a:prstGeom prst="roundRect">
            <a:avLst>
              <a:gd name="adj" fmla="val 20000"/>
            </a:avLst>
          </a:prstGeom>
          <a:solidFill>
            <a:srgbClr val="773F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clusion text">
            <a:extLst>
              <a:ext uri="{FF2B5EF4-FFF2-40B4-BE49-F238E27FC236}">
                <a16:creationId xmlns:a16="http://schemas.microsoft.com/office/drawing/2014/main" id="{7CDCAADF-E03D-600E-0DC5-FD85FD9537CC}"/>
              </a:ext>
            </a:extLst>
          </p:cNvPr>
          <p:cNvSpPr txBox="1"/>
          <p:nvPr/>
        </p:nvSpPr>
        <p:spPr>
          <a:xfrm>
            <a:off x="508000" y="4292600"/>
            <a:ext cx="11785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400" b="1">
                <a:solidFill>
                  <a:srgbClr val="E4D5EE"/>
                </a:solidFill>
                <a:latin typeface="Arial" panose="020B0604020202020204" pitchFamily="34" charset="0"/>
              </a:rPr>
              <a:t>Take-home: </a:t>
            </a:r>
            <a:r>
              <a:rPr lang="en-GB" sz="1400">
                <a:solidFill>
                  <a:srgbClr val="FFFFFF"/>
                </a:solidFill>
                <a:latin typeface="Arial" panose="020B0604020202020204" pitchFamily="34" charset="0"/>
              </a:rPr>
              <a:t>[one sentence]</a:t>
            </a:r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5BEE8BA4-5549-83B0-4381-645ACCF61FD5}"/>
              </a:ext>
            </a:extLst>
          </p:cNvPr>
          <p:cNvSpPr txBox="1"/>
          <p:nvPr/>
        </p:nvSpPr>
        <p:spPr>
          <a:xfrm>
            <a:off x="304800" y="4800600"/>
            <a:ext cx="1219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6E6378"/>
                </a:solidFill>
                <a:latin typeface="Arial" panose="020B0604020202020204" pitchFamily="34" charset="0"/>
              </a:rPr>
              <a:t>[Authors]  ·  [Journal], [Year]  ·  doi:[...]</a:t>
            </a:r>
          </a:p>
        </p:txBody>
      </p:sp>
    </p:spTree>
    <p:extLst>
      <p:ext uri="{BB962C8B-B14F-4D97-AF65-F5344CB8AC3E}">
        <p14:creationId xmlns:p14="http://schemas.microsoft.com/office/powerpoint/2010/main" val="4265138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1326</Words>
  <Application>Microsoft Office PowerPoint</Application>
  <PresentationFormat>Custom</PresentationFormat>
  <Paragraphs>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Yu</dc:creator>
  <cp:lastModifiedBy>Richard Yu</cp:lastModifiedBy>
  <cp:revision>1</cp:revision>
  <dcterms:created xsi:type="dcterms:W3CDTF">2026-10-04T10:36:28Z</dcterms:created>
  <dcterms:modified xsi:type="dcterms:W3CDTF">2026-10-04T10:36:28Z</dcterms:modified>
</cp:coreProperties>
</file>